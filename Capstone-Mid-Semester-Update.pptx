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presenting our mid-semester update on the Entrinsik capstone project. We're working with Entrinsik, the company behind the Informer platform, to rebuild one of their core components — the Query Designer. I'll walk through what we've built, the technical decisions, and where we're headed.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the semester building chatbots for Informer Go — AI tools that could read CSV files and let students interact with data conversationally. After our first check-in, we pivoted to a bigger opportunity: rebuilding the Query Designer. Informer is an enterprise data platform used by Duke and other universities. The Query Designer lets users build SQL queries visually — they pick tables, columns, filters, joins — without writing raw SQL. Datasources can be any type of database: PostgreSQL, Oracle, MySQL, and others. The current version works but is dated and needs a modern redesign. That's our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Query Designer sits between a user and a database. Datasources can be PostgreSQL, Oracle, MySQL, even multivalue databases. The visual builder lets you pick tables, select columns, add filters, create joins — all point-and-click. No SQL needed. You get a live preview of results as you build. The current version works fine but feels outdated. Our goal is to make it modern, intuitive, and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went through several rounds of design iteration before landing on the Office-style ribbon. Six tabs: Home, Columns, Filters, Joins, Sort and Limit, and Sub-selects. Home gives a bird's-eye view with summary tiles and quick-add buttons. We chose the ribbon because it's familiar, organized, scalable, and everything is visible at a glance.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Column Picker lets you search and select columns with drag-and-drop reordering. The Filter Builder uses friendly language — 'is exactly', 'contains', 'is blank' instead of SQL operators. The Join Builder auto-suggests joins by reading schema relationships. Multi-column sorting with row limits. Auto-save with debouncing plus Ctrl+S. Full undo/redo with 80-step history. We also built multi-tab support, SQL export, sub-query stages, and a SQL compiler that handles PostgreSQL, Oracle, and MySQL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primarily a UI/UX design project, not a data science or model training project. We haven't collected traditional datasets because there's nothing to train on at this stage. What we do work with is database schema metadata — tables, columns, data types — from real datasources like Northwind and Banner. And the query definitions themselves, which are JSON structures. The data we will collect is usability feedback: survey responses with Likert scale ratings and open-ended text, task completion observations, and direct comparisons between the old and new Query Designer. We've built a testing framework specifically for this — more on that in a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has been mostly UX/UI design work. We haven't trained any custom AI models or algorithms. However, we have integrated AI as an exploratory feature using Informer's built-in language models. The Natural Language Bar lets you type something like 'Show me all customers from Germany' and the AI searches the database schema, finds the right tables and columns, and generates SQL. The Chat Sidebar is conversational — you can ask it to modify your query, like 'Add the city column', and it updates the visual builder. We're not training custom models. We're using Informer's platform AI through their completion API. The AI pre-fetches schema metadata to ground its responses in actual table and column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this is a UX project, our evaluation metrics are centered on usability, not model accuracy. First, Likert scale ratings from 1 to 5 on ease of use, clarity, and intuitiveness for each feature area — columns, filters, joins, sorting, sub-selects, and the AI features. Second, task completion — can users actually complete common query-building tasks without getting stuck? Third, direct comparison scores — we ask testers to rate the old Query Designer versus the new one on dimensions like ease of use, professional appearance, and feature quality. And fourth, qualitative feedback — open-ended text responses about what works, what's confusing, and what to improve. All of these align with our core objective: build something measurably better than what exists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dedicated survey application for structured user testing. It has 10 sections that walk testers through specific tasks — standard queries, natural language, sub-selects, joins, filtering, save/export, and a direct comparison with the old Query Designer. Each section has step-by-step instructions, Likert scale ratings, and open-ended feedback. Responses are stored in a database with an admin dashboard where we can see all submissions and export to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 stack: React 19 with TypeScript, Vite 7, Tailwind CSS v4, and Radix UI for accessible components. Informer has their own SSR system — comparable to Next.js — where you slot in React on the client side and write server route handlers in plain JavaScript files. SQLite in development, PostgreSQL in production through the Informer platform. Our main contact at Entrinsik is Jacob Friend, who oversees engineering. We use Discord for daily communication, email for formal updates, and Zoom for design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timeline. We started with chatbot prototypes, pivoted to the Query Designer, went through design iteration, built the ribbon UI and features, and integrated AI. Next up: get real Informer users to test the new version using our survey framework. We'll analyze the feedback, iterate on the design, and aim to deploy to the Informer platform. The goal for the rest of the semester is to have concrete comparison data between old and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UX design is iterative and takes time. We're not aiming for perfection in the remaining weeks — we're aiming for something measurably better than the current version. Platform deployment requires the Magic Reports feature to be enabled on the Duke Informer instance — we're working with Entrinsik on that. And we have a limited testing window to recruit users, collect feedback, and iterate. In terms of support, we need access to real Informer users for testing, the Magic Reports feature enabled, and continued collaboration with the Entrinsik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we've rebuilt a major component of the Informer platform from scratch. Modern ribbon interface, AI-powered features, connected to real databases, and a structured testing framework ready to collect user feedback. Our next milestone is getting real Informer users to test it and compare with the old version. Thank you for your time.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B82F6"/>
          </a:solidFill>
          <a:ln/>
        </p:spPr>
      </p:sp>
      <p:sp>
        <p:nvSpPr>
          <p:cNvPr id="3" name="Shape 1"/>
          <p:cNvSpPr/>
          <p:nvPr/>
        </p:nvSpPr>
        <p:spPr>
          <a:xfrm>
            <a:off x="0" y="3840480"/>
            <a:ext cx="9144000" cy="7315"/>
          </a:xfrm>
          <a:prstGeom prst="rect">
            <a:avLst/>
          </a:prstGeom>
          <a:solidFill>
            <a:srgbClr val="3B82F6">
              <a:alpha val="60000"/>
            </a:srgbClr>
          </a:solidFill>
          <a:ln/>
        </p:spPr>
      </p:sp>
      <p:sp>
        <p:nvSpPr>
          <p:cNvPr id="4" name="Text 2"/>
          <p:cNvSpPr/>
          <p:nvPr/>
        </p:nvSpPr>
        <p:spPr>
          <a:xfrm>
            <a:off x="731520" y="1097280"/>
            <a:ext cx="7315200" cy="548640"/>
          </a:xfrm>
          <a:prstGeom prst="rect">
            <a:avLst/>
          </a:prstGeom>
          <a:noFill/>
          <a:ln/>
        </p:spPr>
        <p:txBody>
          <a:bodyPr wrap="square" lIns="0" tIns="0" rIns="0" bIns="0" rtlCol="0" anchor="ctr"/>
          <a:lstStyle/>
          <a:p>
            <a:pPr indent="0" marL="0">
              <a:buNone/>
            </a:pPr>
            <a:r>
              <a:rPr lang="en-US" sz="1600" b="1" spc="600" kern="0" dirty="0">
                <a:solidFill>
                  <a:srgbClr val="0EA5E9"/>
                </a:solidFill>
                <a:latin typeface="Calibri" pitchFamily="34" charset="0"/>
                <a:ea typeface="Calibri" pitchFamily="34" charset="-122"/>
                <a:cs typeface="Calibri" pitchFamily="34" charset="-120"/>
              </a:rPr>
              <a:t>REBUILDING THE</a:t>
            </a:r>
            <a:endParaRPr lang="en-US" sz="1600" dirty="0"/>
          </a:p>
        </p:txBody>
      </p:sp>
      <p:sp>
        <p:nvSpPr>
          <p:cNvPr id="5" name="Text 3"/>
          <p:cNvSpPr/>
          <p:nvPr/>
        </p:nvSpPr>
        <p:spPr>
          <a:xfrm>
            <a:off x="731520" y="1554480"/>
            <a:ext cx="7315200" cy="109728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Query Designer</a:t>
            </a:r>
            <a:endParaRPr lang="en-US" sz="4400" dirty="0"/>
          </a:p>
        </p:txBody>
      </p:sp>
      <p:sp>
        <p:nvSpPr>
          <p:cNvPr id="6" name="Text 4"/>
          <p:cNvSpPr/>
          <p:nvPr/>
        </p:nvSpPr>
        <p:spPr>
          <a:xfrm>
            <a:off x="731520" y="274320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Entrinsik Informer  |  Duke AIPI Capstone</a:t>
            </a:r>
            <a:endParaRPr lang="en-US" sz="1600" dirty="0"/>
          </a:p>
        </p:txBody>
      </p:sp>
      <p:sp>
        <p:nvSpPr>
          <p:cNvPr id="7" name="Text 5"/>
          <p:cNvSpPr/>
          <p:nvPr/>
        </p:nvSpPr>
        <p:spPr>
          <a:xfrm>
            <a:off x="731520" y="3200400"/>
            <a:ext cx="7315200" cy="45720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Mid-Semester Progress Update</a:t>
            </a:r>
            <a:endParaRPr lang="en-US" sz="1400" dirty="0"/>
          </a:p>
        </p:txBody>
      </p:sp>
      <p:sp>
        <p:nvSpPr>
          <p:cNvPr id="8" name="Text 6"/>
          <p:cNvSpPr/>
          <p:nvPr/>
        </p:nvSpPr>
        <p:spPr>
          <a:xfrm>
            <a:off x="731520" y="4114800"/>
            <a:ext cx="365760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Spring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640080" y="365760"/>
            <a:ext cx="7315200" cy="548640"/>
          </a:xfrm>
          <a:prstGeom prst="rect">
            <a:avLst/>
          </a:prstGeom>
          <a:noFill/>
          <a:ln/>
        </p:spPr>
        <p:txBody>
          <a:bodyPr wrap="square" lIns="0" tIns="0" rIns="0" bIns="0"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Project Overview</a:t>
            </a:r>
            <a:endParaRPr lang="en-US" sz="2800" dirty="0"/>
          </a:p>
        </p:txBody>
      </p:sp>
      <p:sp>
        <p:nvSpPr>
          <p:cNvPr id="3" name="Shape 1"/>
          <p:cNvSpPr/>
          <p:nvPr/>
        </p:nvSpPr>
        <p:spPr>
          <a:xfrm>
            <a:off x="640080" y="1188720"/>
            <a:ext cx="3657600" cy="27432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4" name="Shape 2"/>
          <p:cNvSpPr/>
          <p:nvPr/>
        </p:nvSpPr>
        <p:spPr>
          <a:xfrm>
            <a:off x="640080" y="1188720"/>
            <a:ext cx="3657600" cy="411480"/>
          </a:xfrm>
          <a:prstGeom prst="rect">
            <a:avLst/>
          </a:prstGeom>
          <a:solidFill>
            <a:srgbClr val="334155"/>
          </a:solidFill>
          <a:ln/>
        </p:spPr>
      </p:sp>
      <p:sp>
        <p:nvSpPr>
          <p:cNvPr id="5" name="Text 3"/>
          <p:cNvSpPr/>
          <p:nvPr/>
        </p:nvSpPr>
        <p:spPr>
          <a:xfrm>
            <a:off x="640080" y="1188720"/>
            <a:ext cx="365760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1: Chatbots</a:t>
            </a:r>
            <a:endParaRPr lang="en-US" sz="1300" dirty="0"/>
          </a:p>
        </p:txBody>
      </p:sp>
      <p:sp>
        <p:nvSpPr>
          <p:cNvPr id="6" name="Text 4"/>
          <p:cNvSpPr/>
          <p:nvPr/>
        </p:nvSpPr>
        <p:spPr>
          <a:xfrm>
            <a:off x="914400" y="1783080"/>
            <a:ext cx="3108960" cy="1920240"/>
          </a:xfrm>
          <a:prstGeom prst="rect">
            <a:avLst/>
          </a:prstGeom>
          <a:noFill/>
          <a:ln/>
        </p:spPr>
        <p:txBody>
          <a:bodyPr wrap="square" rtlCol="0" anchor="t"/>
          <a:lstStyle/>
          <a:p>
            <a:pPr marL="342900" indent="-342900">
              <a:buSzPct val="100000"/>
              <a:buChar char="•"/>
            </a:pPr>
            <a:r>
              <a:rPr lang="en-US" sz="1300" dirty="0">
                <a:solidFill>
                  <a:srgbClr val="475569"/>
                </a:solidFill>
              </a:rPr>
              <a:t>Built chatbots for Informer Go</a:t>
            </a:r>
            <a:endParaRPr lang="en-US" sz="1300" dirty="0"/>
          </a:p>
          <a:p>
            <a:pPr marL="342900" indent="-342900">
              <a:buSzPct val="100000"/>
              <a:buChar char="•"/>
            </a:pPr>
            <a:r>
              <a:rPr lang="en-US" sz="1300" dirty="0">
                <a:solidFill>
                  <a:srgbClr val="475569"/>
                </a:solidFill>
              </a:rPr>
              <a:t>CSV data readers for students</a:t>
            </a:r>
            <a:endParaRPr lang="en-US" sz="1300" dirty="0"/>
          </a:p>
          <a:p>
            <a:pPr marL="342900" indent="-342900">
              <a:buSzPct val="100000"/>
              <a:buChar char="•"/>
            </a:pPr>
            <a:r>
              <a:rPr lang="en-US" sz="1300" dirty="0">
                <a:solidFill>
                  <a:srgbClr val="475569"/>
                </a:solidFill>
              </a:rPr>
              <a:t>Interactive data exploration</a:t>
            </a:r>
            <a:endParaRPr lang="en-US" sz="1300" dirty="0"/>
          </a:p>
          <a:p>
            <a:pPr indent="0" marL="0">
              <a:buNone/>
            </a:pPr>
            <a:endParaRPr lang="en-US" sz="1300" dirty="0"/>
          </a:p>
          <a:p>
            <a:pPr indent="0" marL="0">
              <a:buNone/>
            </a:pPr>
            <a:r>
              <a:rPr lang="en-US" sz="1200" i="1" dirty="0">
                <a:solidFill>
                  <a:srgbClr val="94A3B8"/>
                </a:solidFill>
              </a:rPr>
              <a:t>Pivoted after first check-in</a:t>
            </a:r>
            <a:endParaRPr lang="en-US" sz="1300" dirty="0"/>
          </a:p>
        </p:txBody>
      </p:sp>
      <p:sp>
        <p:nvSpPr>
          <p:cNvPr id="7" name="Shape 5"/>
          <p:cNvSpPr/>
          <p:nvPr/>
        </p:nvSpPr>
        <p:spPr>
          <a:xfrm>
            <a:off x="4846320" y="1188720"/>
            <a:ext cx="3657600" cy="27432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8" name="Shape 6"/>
          <p:cNvSpPr/>
          <p:nvPr/>
        </p:nvSpPr>
        <p:spPr>
          <a:xfrm>
            <a:off x="4846320" y="1188720"/>
            <a:ext cx="3657600" cy="411480"/>
          </a:xfrm>
          <a:prstGeom prst="rect">
            <a:avLst/>
          </a:prstGeom>
          <a:solidFill>
            <a:srgbClr val="3B82F6"/>
          </a:solidFill>
          <a:ln/>
        </p:spPr>
      </p:sp>
      <p:sp>
        <p:nvSpPr>
          <p:cNvPr id="9" name="Text 7"/>
          <p:cNvSpPr/>
          <p:nvPr/>
        </p:nvSpPr>
        <p:spPr>
          <a:xfrm>
            <a:off x="4846320" y="1188720"/>
            <a:ext cx="365760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Phase 2: Query Designer</a:t>
            </a:r>
            <a:endParaRPr lang="en-US" sz="1300" dirty="0"/>
          </a:p>
        </p:txBody>
      </p:sp>
      <p:sp>
        <p:nvSpPr>
          <p:cNvPr id="10" name="Text 8"/>
          <p:cNvSpPr/>
          <p:nvPr/>
        </p:nvSpPr>
        <p:spPr>
          <a:xfrm>
            <a:off x="5120640" y="1783080"/>
            <a:ext cx="3108960" cy="1920240"/>
          </a:xfrm>
          <a:prstGeom prst="rect">
            <a:avLst/>
          </a:prstGeom>
          <a:noFill/>
          <a:ln/>
        </p:spPr>
        <p:txBody>
          <a:bodyPr wrap="square" rtlCol="0" anchor="t"/>
          <a:lstStyle/>
          <a:p>
            <a:pPr marL="342900" indent="-342900">
              <a:buSzPct val="100000"/>
              <a:buChar char="•"/>
            </a:pPr>
            <a:r>
              <a:rPr lang="en-US" sz="1300" dirty="0">
                <a:solidFill>
                  <a:srgbClr val="475569"/>
                </a:solidFill>
              </a:rPr>
              <a:t>Rebuilding a core Informer component</a:t>
            </a:r>
            <a:endParaRPr lang="en-US" sz="1300" dirty="0"/>
          </a:p>
          <a:p>
            <a:pPr marL="342900" indent="-342900">
              <a:buSzPct val="100000"/>
              <a:buChar char="•"/>
            </a:pPr>
            <a:r>
              <a:rPr lang="en-US" sz="1300" dirty="0">
                <a:solidFill>
                  <a:srgbClr val="475569"/>
                </a:solidFill>
              </a:rPr>
              <a:t>Visual SQL query builder</a:t>
            </a:r>
            <a:endParaRPr lang="en-US" sz="1300" dirty="0"/>
          </a:p>
          <a:p>
            <a:pPr marL="342900" indent="-342900">
              <a:buSzPct val="100000"/>
              <a:buChar char="•"/>
            </a:pPr>
            <a:r>
              <a:rPr lang="en-US" sz="1300" dirty="0">
                <a:solidFill>
                  <a:srgbClr val="475569"/>
                </a:solidFill>
              </a:rPr>
              <a:t>Works with real datasources</a:t>
            </a:r>
            <a:endParaRPr lang="en-US" sz="1300" dirty="0"/>
          </a:p>
          <a:p>
            <a:pPr indent="0" marL="0">
              <a:buNone/>
            </a:pPr>
            <a:endParaRPr lang="en-US" sz="1300" dirty="0"/>
          </a:p>
          <a:p>
            <a:pPr indent="0" marL="0">
              <a:buNone/>
            </a:pPr>
            <a:r>
              <a:rPr lang="en-US" sz="1200" b="1" dirty="0">
                <a:solidFill>
                  <a:srgbClr val="3B82F6"/>
                </a:solidFill>
              </a:rPr>
              <a:t>Current focus</a:t>
            </a:r>
            <a:endParaRPr lang="en-US" sz="1300" dirty="0"/>
          </a:p>
        </p:txBody>
      </p:sp>
      <p:sp>
        <p:nvSpPr>
          <p:cNvPr id="11" name="Text 9"/>
          <p:cNvSpPr/>
          <p:nvPr/>
        </p:nvSpPr>
        <p:spPr>
          <a:xfrm>
            <a:off x="4160520" y="2011680"/>
            <a:ext cx="822960" cy="548640"/>
          </a:xfrm>
          <a:prstGeom prst="rect">
            <a:avLst/>
          </a:prstGeom>
          <a:noFill/>
          <a:ln/>
        </p:spPr>
        <p:txBody>
          <a:bodyPr wrap="square" rtlCol="0" anchor="ctr"/>
          <a:lstStyle/>
          <a:p>
            <a:pPr algn="ctr" indent="0" marL="0">
              <a:buNone/>
            </a:pPr>
            <a:r>
              <a:rPr lang="en-US" sz="2800" dirty="0">
                <a:solidFill>
                  <a:srgbClr val="3B82F6"/>
                </a:solidFill>
                <a:latin typeface="Calibri" pitchFamily="34" charset="0"/>
                <a:ea typeface="Calibri" pitchFamily="34" charset="-122"/>
                <a:cs typeface="Calibri" pitchFamily="34" charset="-120"/>
              </a:rPr>
              <a:t>→</a:t>
            </a:r>
            <a:endParaRPr lang="en-US" sz="2800" dirty="0"/>
          </a:p>
        </p:txBody>
      </p:sp>
      <p:sp>
        <p:nvSpPr>
          <p:cNvPr id="12" name="Text 10"/>
          <p:cNvSpPr/>
          <p:nvPr/>
        </p:nvSpPr>
        <p:spPr>
          <a:xfrm>
            <a:off x="640080" y="4206240"/>
            <a:ext cx="7863840" cy="45720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Informer is an enterprise data platform used by universities and organizations to access, visualize, and report on data from multiple database systems.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548640"/>
          </a:xfrm>
          <a:prstGeom prst="rect">
            <a:avLst/>
          </a:prstGeom>
          <a:noFill/>
          <a:ln/>
        </p:spPr>
        <p:txBody>
          <a:bodyPr wrap="square" lIns="0" tIns="0" rIns="0" bIns="0"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What is the Query Designer?</a:t>
            </a:r>
            <a:endParaRPr lang="en-US" sz="2800" dirty="0"/>
          </a:p>
        </p:txBody>
      </p:sp>
      <p:sp>
        <p:nvSpPr>
          <p:cNvPr id="3" name="Shape 1"/>
          <p:cNvSpPr/>
          <p:nvPr/>
        </p:nvSpPr>
        <p:spPr>
          <a:xfrm>
            <a:off x="640080" y="1280160"/>
            <a:ext cx="2560320" cy="2377440"/>
          </a:xfrm>
          <a:prstGeom prst="rect">
            <a:avLst/>
          </a:prstGeom>
          <a:solidFill>
            <a:srgbClr val="F1F5F9"/>
          </a:solidFill>
          <a:ln/>
          <a:effectLst>
            <a:outerShdw sx="100000" sy="100000" kx="0" ky="0" algn="bl" rotWithShape="0" blurRad="101600" dist="25400" dir="8100000">
              <a:srgbClr val="000000">
                <a:alpha val="10000"/>
              </a:srgbClr>
            </a:outerShdw>
          </a:effectLst>
        </p:spPr>
      </p:sp>
      <p:pic>
        <p:nvPicPr>
          <p:cNvPr id="4" name="Image 0" descr="preencoded.png">    </p:cNvPr>
          <p:cNvPicPr>
            <a:picLocks noChangeAspect="1"/>
          </p:cNvPicPr>
          <p:nvPr/>
        </p:nvPicPr>
        <p:blipFill>
          <a:blip r:embed="rId1"/>
          <a:stretch>
            <a:fillRect/>
          </a:stretch>
        </p:blipFill>
        <p:spPr>
          <a:xfrm>
            <a:off x="1600200" y="1508760"/>
            <a:ext cx="640080" cy="640080"/>
          </a:xfrm>
          <a:prstGeom prst="rect">
            <a:avLst/>
          </a:prstGeom>
        </p:spPr>
      </p:pic>
      <p:sp>
        <p:nvSpPr>
          <p:cNvPr id="5" name="Text 2"/>
          <p:cNvSpPr/>
          <p:nvPr/>
        </p:nvSpPr>
        <p:spPr>
          <a:xfrm>
            <a:off x="640080" y="2286000"/>
            <a:ext cx="2560320" cy="365760"/>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Datasources</a:t>
            </a:r>
            <a:endParaRPr lang="en-US" sz="1500" dirty="0"/>
          </a:p>
        </p:txBody>
      </p:sp>
      <p:sp>
        <p:nvSpPr>
          <p:cNvPr id="6" name="Text 3"/>
          <p:cNvSpPr/>
          <p:nvPr/>
        </p:nvSpPr>
        <p:spPr>
          <a:xfrm>
            <a:off x="822960" y="2697480"/>
            <a:ext cx="2194560" cy="731520"/>
          </a:xfrm>
          <a:prstGeom prst="rect">
            <a:avLst/>
          </a:prstGeom>
          <a:noFill/>
          <a:ln/>
        </p:spPr>
        <p:txBody>
          <a:bodyPr wrap="square"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Connect to any database — PostgreSQL, Oracle, MySQL, and more</a:t>
            </a:r>
            <a:endParaRPr lang="en-US" sz="1200" dirty="0"/>
          </a:p>
        </p:txBody>
      </p:sp>
      <p:sp>
        <p:nvSpPr>
          <p:cNvPr id="7" name="Shape 4"/>
          <p:cNvSpPr/>
          <p:nvPr/>
        </p:nvSpPr>
        <p:spPr>
          <a:xfrm>
            <a:off x="3474720" y="1280160"/>
            <a:ext cx="2560320" cy="2377440"/>
          </a:xfrm>
          <a:prstGeom prst="rect">
            <a:avLst/>
          </a:prstGeom>
          <a:solidFill>
            <a:srgbClr val="F1F5F9"/>
          </a:solidFill>
          <a:ln/>
          <a:effectLst>
            <a:outerShdw sx="100000" sy="100000" kx="0" ky="0" algn="bl" rotWithShape="0" blurRad="101600" dist="25400" dir="8100000">
              <a:srgbClr val="000000">
                <a:alpha val="10000"/>
              </a:srgbClr>
            </a:outerShdw>
          </a:effectLst>
        </p:spPr>
      </p:sp>
      <p:pic>
        <p:nvPicPr>
          <p:cNvPr id="8" name="Image 1" descr="preencoded.png">    </p:cNvPr>
          <p:cNvPicPr>
            <a:picLocks noChangeAspect="1"/>
          </p:cNvPicPr>
          <p:nvPr/>
        </p:nvPicPr>
        <p:blipFill>
          <a:blip r:embed="rId2"/>
          <a:stretch>
            <a:fillRect/>
          </a:stretch>
        </p:blipFill>
        <p:spPr>
          <a:xfrm>
            <a:off x="4434840" y="1508760"/>
            <a:ext cx="640080" cy="640080"/>
          </a:xfrm>
          <a:prstGeom prst="rect">
            <a:avLst/>
          </a:prstGeom>
        </p:spPr>
      </p:pic>
      <p:sp>
        <p:nvSpPr>
          <p:cNvPr id="9" name="Text 5"/>
          <p:cNvSpPr/>
          <p:nvPr/>
        </p:nvSpPr>
        <p:spPr>
          <a:xfrm>
            <a:off x="3474720" y="2286000"/>
            <a:ext cx="2560320" cy="365760"/>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Visual Builder</a:t>
            </a:r>
            <a:endParaRPr lang="en-US" sz="1500" dirty="0"/>
          </a:p>
        </p:txBody>
      </p:sp>
      <p:sp>
        <p:nvSpPr>
          <p:cNvPr id="10" name="Text 6"/>
          <p:cNvSpPr/>
          <p:nvPr/>
        </p:nvSpPr>
        <p:spPr>
          <a:xfrm>
            <a:off x="3657600" y="2697480"/>
            <a:ext cx="2194560" cy="731520"/>
          </a:xfrm>
          <a:prstGeom prst="rect">
            <a:avLst/>
          </a:prstGeom>
          <a:noFill/>
          <a:ln/>
        </p:spPr>
        <p:txBody>
          <a:bodyPr wrap="square"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Pick tables, columns, filters, and joins without writing SQL</a:t>
            </a:r>
            <a:endParaRPr lang="en-US" sz="1200" dirty="0"/>
          </a:p>
        </p:txBody>
      </p:sp>
      <p:sp>
        <p:nvSpPr>
          <p:cNvPr id="11" name="Shape 7"/>
          <p:cNvSpPr/>
          <p:nvPr/>
        </p:nvSpPr>
        <p:spPr>
          <a:xfrm>
            <a:off x="6309360" y="1280160"/>
            <a:ext cx="2560320" cy="2377440"/>
          </a:xfrm>
          <a:prstGeom prst="rect">
            <a:avLst/>
          </a:prstGeom>
          <a:solidFill>
            <a:srgbClr val="F1F5F9"/>
          </a:solidFill>
          <a:ln/>
          <a:effectLst>
            <a:outerShdw sx="100000" sy="100000" kx="0" ky="0" algn="bl" rotWithShape="0" blurRad="101600" dist="25400" dir="8100000">
              <a:srgbClr val="000000">
                <a:alpha val="10000"/>
              </a:srgbClr>
            </a:outerShdw>
          </a:effectLst>
        </p:spPr>
      </p:sp>
      <p:pic>
        <p:nvPicPr>
          <p:cNvPr id="12" name="Image 2" descr="preencoded.png">    </p:cNvPr>
          <p:cNvPicPr>
            <a:picLocks noChangeAspect="1"/>
          </p:cNvPicPr>
          <p:nvPr/>
        </p:nvPicPr>
        <p:blipFill>
          <a:blip r:embed="rId3"/>
          <a:stretch>
            <a:fillRect/>
          </a:stretch>
        </p:blipFill>
        <p:spPr>
          <a:xfrm>
            <a:off x="7269480" y="1508760"/>
            <a:ext cx="640080" cy="640080"/>
          </a:xfrm>
          <a:prstGeom prst="rect">
            <a:avLst/>
          </a:prstGeom>
        </p:spPr>
      </p:pic>
      <p:sp>
        <p:nvSpPr>
          <p:cNvPr id="13" name="Text 8"/>
          <p:cNvSpPr/>
          <p:nvPr/>
        </p:nvSpPr>
        <p:spPr>
          <a:xfrm>
            <a:off x="6309360" y="2286000"/>
            <a:ext cx="2560320" cy="365760"/>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Live Preview</a:t>
            </a:r>
            <a:endParaRPr lang="en-US" sz="1500" dirty="0"/>
          </a:p>
        </p:txBody>
      </p:sp>
      <p:sp>
        <p:nvSpPr>
          <p:cNvPr id="14" name="Text 9"/>
          <p:cNvSpPr/>
          <p:nvPr/>
        </p:nvSpPr>
        <p:spPr>
          <a:xfrm>
            <a:off x="6492240" y="2697480"/>
            <a:ext cx="2194560" cy="731520"/>
          </a:xfrm>
          <a:prstGeom prst="rect">
            <a:avLst/>
          </a:prstGeom>
          <a:noFill/>
          <a:ln/>
        </p:spPr>
        <p:txBody>
          <a:bodyPr wrap="square"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See results instantly as you build your query</a:t>
            </a:r>
            <a:endParaRPr lang="en-US" sz="1200" dirty="0"/>
          </a:p>
        </p:txBody>
      </p:sp>
      <p:sp>
        <p:nvSpPr>
          <p:cNvPr id="15" name="Shape 10"/>
          <p:cNvSpPr/>
          <p:nvPr/>
        </p:nvSpPr>
        <p:spPr>
          <a:xfrm>
            <a:off x="640080" y="3931920"/>
            <a:ext cx="7863840" cy="731520"/>
          </a:xfrm>
          <a:prstGeom prst="rect">
            <a:avLst/>
          </a:prstGeom>
          <a:solidFill>
            <a:srgbClr val="1B2A4A"/>
          </a:solidFill>
          <a:ln/>
        </p:spPr>
      </p:sp>
      <p:sp>
        <p:nvSpPr>
          <p:cNvPr id="16" name="Text 11"/>
          <p:cNvSpPr/>
          <p:nvPr/>
        </p:nvSpPr>
        <p:spPr>
          <a:xfrm>
            <a:off x="914400" y="3931920"/>
            <a:ext cx="7315200" cy="7315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The old Query Designer works, but the interface is dated. Our job: make it modern, intuitive, and faster.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640080" y="365760"/>
            <a:ext cx="7315200" cy="548640"/>
          </a:xfrm>
          <a:prstGeom prst="rect">
            <a:avLst/>
          </a:prstGeom>
          <a:noFill/>
          <a:ln/>
        </p:spPr>
        <p:txBody>
          <a:bodyPr wrap="square" lIns="0" tIns="0" rIns="0" bIns="0"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Our Approach: The Microsoft Ribbon</a:t>
            </a:r>
            <a:endParaRPr lang="en-US" sz="2800" dirty="0"/>
          </a:p>
        </p:txBody>
      </p:sp>
      <p:sp>
        <p:nvSpPr>
          <p:cNvPr id="3" name="Text 1"/>
          <p:cNvSpPr/>
          <p:nvPr/>
        </p:nvSpPr>
        <p:spPr>
          <a:xfrm>
            <a:off x="640080" y="960120"/>
            <a:ext cx="7863840" cy="36576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We iterated through multiple interface designs before settling on the Office-style ribbon UI.</a:t>
            </a:r>
            <a:endParaRPr lang="en-US" sz="1300" dirty="0"/>
          </a:p>
        </p:txBody>
      </p:sp>
      <p:sp>
        <p:nvSpPr>
          <p:cNvPr id="4" name="Shape 2"/>
          <p:cNvSpPr/>
          <p:nvPr/>
        </p:nvSpPr>
        <p:spPr>
          <a:xfrm>
            <a:off x="640080" y="1554480"/>
            <a:ext cx="7863840" cy="411480"/>
          </a:xfrm>
          <a:prstGeom prst="rect">
            <a:avLst/>
          </a:prstGeom>
          <a:solidFill>
            <a:srgbClr val="E8EDF3"/>
          </a:solidFill>
          <a:ln/>
        </p:spPr>
      </p:sp>
      <p:sp>
        <p:nvSpPr>
          <p:cNvPr id="5" name="Shape 3"/>
          <p:cNvSpPr/>
          <p:nvPr/>
        </p:nvSpPr>
        <p:spPr>
          <a:xfrm>
            <a:off x="685800" y="1554480"/>
            <a:ext cx="1097280" cy="411480"/>
          </a:xfrm>
          <a:prstGeom prst="rect">
            <a:avLst/>
          </a:prstGeom>
          <a:solidFill>
            <a:srgbClr val="FFFFFF"/>
          </a:solidFill>
          <a:ln/>
        </p:spPr>
      </p:sp>
      <p:sp>
        <p:nvSpPr>
          <p:cNvPr id="6" name="Text 4"/>
          <p:cNvSpPr/>
          <p:nvPr/>
        </p:nvSpPr>
        <p:spPr>
          <a:xfrm>
            <a:off x="685800" y="1554480"/>
            <a:ext cx="1097280" cy="411480"/>
          </a:xfrm>
          <a:prstGeom prst="rect">
            <a:avLst/>
          </a:prstGeom>
          <a:noFill/>
          <a:ln/>
        </p:spPr>
        <p:txBody>
          <a:bodyPr wrap="square" rtlCol="0" anchor="ctr"/>
          <a:lstStyle/>
          <a:p>
            <a:pPr algn="ctr" indent="0" marL="0">
              <a:buNone/>
            </a:pPr>
            <a:r>
              <a:rPr lang="en-US" sz="1000" b="1" dirty="0">
                <a:solidFill>
                  <a:srgbClr val="3B82F6"/>
                </a:solidFill>
                <a:latin typeface="Calibri" pitchFamily="34" charset="0"/>
                <a:ea typeface="Calibri" pitchFamily="34" charset="-122"/>
                <a:cs typeface="Calibri" pitchFamily="34" charset="-120"/>
              </a:rPr>
              <a:t>Home</a:t>
            </a:r>
            <a:endParaRPr lang="en-US" sz="1000" dirty="0"/>
          </a:p>
        </p:txBody>
      </p:sp>
      <p:sp>
        <p:nvSpPr>
          <p:cNvPr id="7" name="Text 5"/>
          <p:cNvSpPr/>
          <p:nvPr/>
        </p:nvSpPr>
        <p:spPr>
          <a:xfrm>
            <a:off x="1965960" y="1554480"/>
            <a:ext cx="1097280" cy="411480"/>
          </a:xfrm>
          <a:prstGeom prst="rect">
            <a:avLst/>
          </a:prstGeom>
          <a:noFill/>
          <a:ln/>
        </p:spPr>
        <p:txBody>
          <a:bodyPr wrap="square"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Columns</a:t>
            </a:r>
            <a:endParaRPr lang="en-US" sz="1000" dirty="0"/>
          </a:p>
        </p:txBody>
      </p:sp>
      <p:sp>
        <p:nvSpPr>
          <p:cNvPr id="8" name="Text 6"/>
          <p:cNvSpPr/>
          <p:nvPr/>
        </p:nvSpPr>
        <p:spPr>
          <a:xfrm>
            <a:off x="3246120" y="1554480"/>
            <a:ext cx="1097280" cy="411480"/>
          </a:xfrm>
          <a:prstGeom prst="rect">
            <a:avLst/>
          </a:prstGeom>
          <a:noFill/>
          <a:ln/>
        </p:spPr>
        <p:txBody>
          <a:bodyPr wrap="square"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Filters</a:t>
            </a:r>
            <a:endParaRPr lang="en-US" sz="1000" dirty="0"/>
          </a:p>
        </p:txBody>
      </p:sp>
      <p:sp>
        <p:nvSpPr>
          <p:cNvPr id="9" name="Text 7"/>
          <p:cNvSpPr/>
          <p:nvPr/>
        </p:nvSpPr>
        <p:spPr>
          <a:xfrm>
            <a:off x="4526280" y="1554480"/>
            <a:ext cx="1097280" cy="411480"/>
          </a:xfrm>
          <a:prstGeom prst="rect">
            <a:avLst/>
          </a:prstGeom>
          <a:noFill/>
          <a:ln/>
        </p:spPr>
        <p:txBody>
          <a:bodyPr wrap="square"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Joins</a:t>
            </a:r>
            <a:endParaRPr lang="en-US" sz="1000" dirty="0"/>
          </a:p>
        </p:txBody>
      </p:sp>
      <p:sp>
        <p:nvSpPr>
          <p:cNvPr id="10" name="Text 8"/>
          <p:cNvSpPr/>
          <p:nvPr/>
        </p:nvSpPr>
        <p:spPr>
          <a:xfrm>
            <a:off x="5806440" y="1554480"/>
            <a:ext cx="1097280" cy="411480"/>
          </a:xfrm>
          <a:prstGeom prst="rect">
            <a:avLst/>
          </a:prstGeom>
          <a:noFill/>
          <a:ln/>
        </p:spPr>
        <p:txBody>
          <a:bodyPr wrap="square"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Sort &amp; Limit</a:t>
            </a:r>
            <a:endParaRPr lang="en-US" sz="1000" dirty="0"/>
          </a:p>
        </p:txBody>
      </p:sp>
      <p:sp>
        <p:nvSpPr>
          <p:cNvPr id="11" name="Text 9"/>
          <p:cNvSpPr/>
          <p:nvPr/>
        </p:nvSpPr>
        <p:spPr>
          <a:xfrm>
            <a:off x="7086600" y="1554480"/>
            <a:ext cx="1097280" cy="411480"/>
          </a:xfrm>
          <a:prstGeom prst="rect">
            <a:avLst/>
          </a:prstGeom>
          <a:noFill/>
          <a:ln/>
        </p:spPr>
        <p:txBody>
          <a:bodyPr wrap="square"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Sub-selects</a:t>
            </a:r>
            <a:endParaRPr lang="en-US" sz="1000" dirty="0"/>
          </a:p>
        </p:txBody>
      </p:sp>
      <p:sp>
        <p:nvSpPr>
          <p:cNvPr id="12" name="Shape 10"/>
          <p:cNvSpPr/>
          <p:nvPr/>
        </p:nvSpPr>
        <p:spPr>
          <a:xfrm>
            <a:off x="640080" y="1965960"/>
            <a:ext cx="7863840" cy="109728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3" name="Text 11"/>
          <p:cNvSpPr/>
          <p:nvPr/>
        </p:nvSpPr>
        <p:spPr>
          <a:xfrm>
            <a:off x="914400" y="1965960"/>
            <a:ext cx="7315200" cy="109728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Source  |  Query Summary  |  Quick Add  |  Run  |  Export</a:t>
            </a:r>
            <a:endParaRPr lang="en-US" sz="1200" dirty="0"/>
          </a:p>
        </p:txBody>
      </p:sp>
      <p:sp>
        <p:nvSpPr>
          <p:cNvPr id="14" name="Shape 12"/>
          <p:cNvSpPr/>
          <p:nvPr/>
        </p:nvSpPr>
        <p:spPr>
          <a:xfrm>
            <a:off x="640080" y="3383280"/>
            <a:ext cx="1828800" cy="12801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5" name="Text 13"/>
          <p:cNvSpPr/>
          <p:nvPr/>
        </p:nvSpPr>
        <p:spPr>
          <a:xfrm>
            <a:off x="640080" y="3520440"/>
            <a:ext cx="1828800" cy="32004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Familiar</a:t>
            </a:r>
            <a:endParaRPr lang="en-US" sz="1400" dirty="0"/>
          </a:p>
        </p:txBody>
      </p:sp>
      <p:sp>
        <p:nvSpPr>
          <p:cNvPr id="16" name="Text 14"/>
          <p:cNvSpPr/>
          <p:nvPr/>
        </p:nvSpPr>
        <p:spPr>
          <a:xfrm>
            <a:off x="777240" y="3840480"/>
            <a:ext cx="1554480" cy="640080"/>
          </a:xfrm>
          <a:prstGeom prst="rect">
            <a:avLst/>
          </a:prstGeom>
          <a:noFill/>
          <a:ln/>
        </p:spPr>
        <p:txBody>
          <a:bodyPr wrap="square"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Users already know this pattern</a:t>
            </a:r>
            <a:endParaRPr lang="en-US" sz="1100" dirty="0"/>
          </a:p>
        </p:txBody>
      </p:sp>
      <p:sp>
        <p:nvSpPr>
          <p:cNvPr id="17" name="Shape 15"/>
          <p:cNvSpPr/>
          <p:nvPr/>
        </p:nvSpPr>
        <p:spPr>
          <a:xfrm>
            <a:off x="2743200" y="3383280"/>
            <a:ext cx="1828800" cy="12801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8" name="Text 16"/>
          <p:cNvSpPr/>
          <p:nvPr/>
        </p:nvSpPr>
        <p:spPr>
          <a:xfrm>
            <a:off x="2743200" y="3520440"/>
            <a:ext cx="1828800" cy="32004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Organized</a:t>
            </a:r>
            <a:endParaRPr lang="en-US" sz="1400" dirty="0"/>
          </a:p>
        </p:txBody>
      </p:sp>
      <p:sp>
        <p:nvSpPr>
          <p:cNvPr id="19" name="Text 17"/>
          <p:cNvSpPr/>
          <p:nvPr/>
        </p:nvSpPr>
        <p:spPr>
          <a:xfrm>
            <a:off x="2880360" y="3840480"/>
            <a:ext cx="1554480" cy="640080"/>
          </a:xfrm>
          <a:prstGeom prst="rect">
            <a:avLst/>
          </a:prstGeom>
          <a:noFill/>
          <a:ln/>
        </p:spPr>
        <p:txBody>
          <a:bodyPr wrap="square"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Related actions grouped logically</a:t>
            </a:r>
            <a:endParaRPr lang="en-US" sz="1100" dirty="0"/>
          </a:p>
        </p:txBody>
      </p:sp>
      <p:sp>
        <p:nvSpPr>
          <p:cNvPr id="20" name="Shape 18"/>
          <p:cNvSpPr/>
          <p:nvPr/>
        </p:nvSpPr>
        <p:spPr>
          <a:xfrm>
            <a:off x="4846320" y="3383280"/>
            <a:ext cx="1828800" cy="12801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21" name="Text 19"/>
          <p:cNvSpPr/>
          <p:nvPr/>
        </p:nvSpPr>
        <p:spPr>
          <a:xfrm>
            <a:off x="4846320" y="3520440"/>
            <a:ext cx="1828800" cy="32004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Scalable</a:t>
            </a:r>
            <a:endParaRPr lang="en-US" sz="1400" dirty="0"/>
          </a:p>
        </p:txBody>
      </p:sp>
      <p:sp>
        <p:nvSpPr>
          <p:cNvPr id="22" name="Text 20"/>
          <p:cNvSpPr/>
          <p:nvPr/>
        </p:nvSpPr>
        <p:spPr>
          <a:xfrm>
            <a:off x="4983480" y="3840480"/>
            <a:ext cx="1554480" cy="640080"/>
          </a:xfrm>
          <a:prstGeom prst="rect">
            <a:avLst/>
          </a:prstGeom>
          <a:noFill/>
          <a:ln/>
        </p:spPr>
        <p:txBody>
          <a:bodyPr wrap="square"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Easy to add new feature tabs</a:t>
            </a:r>
            <a:endParaRPr lang="en-US" sz="1100" dirty="0"/>
          </a:p>
        </p:txBody>
      </p:sp>
      <p:sp>
        <p:nvSpPr>
          <p:cNvPr id="23" name="Shape 21"/>
          <p:cNvSpPr/>
          <p:nvPr/>
        </p:nvSpPr>
        <p:spPr>
          <a:xfrm>
            <a:off x="6949440" y="3383280"/>
            <a:ext cx="1828800" cy="12801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24" name="Text 22"/>
          <p:cNvSpPr/>
          <p:nvPr/>
        </p:nvSpPr>
        <p:spPr>
          <a:xfrm>
            <a:off x="6949440" y="3520440"/>
            <a:ext cx="1828800" cy="32004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Glanceable</a:t>
            </a:r>
            <a:endParaRPr lang="en-US" sz="1400" dirty="0"/>
          </a:p>
        </p:txBody>
      </p:sp>
      <p:sp>
        <p:nvSpPr>
          <p:cNvPr id="25" name="Text 23"/>
          <p:cNvSpPr/>
          <p:nvPr/>
        </p:nvSpPr>
        <p:spPr>
          <a:xfrm>
            <a:off x="7086600" y="3840480"/>
            <a:ext cx="1554480" cy="640080"/>
          </a:xfrm>
          <a:prstGeom prst="rect">
            <a:avLst/>
          </a:prstGeom>
          <a:noFill/>
          <a:ln/>
        </p:spPr>
        <p:txBody>
          <a:bodyPr wrap="square"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Everything visible, no hidden menus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Key Features Built</a:t>
            </a:r>
            <a:endParaRPr lang="en-US" sz="2800" dirty="0"/>
          </a:p>
        </p:txBody>
      </p:sp>
      <p:sp>
        <p:nvSpPr>
          <p:cNvPr id="3" name="Shape 1"/>
          <p:cNvSpPr/>
          <p:nvPr/>
        </p:nvSpPr>
        <p:spPr>
          <a:xfrm>
            <a:off x="640080" y="1097280"/>
            <a:ext cx="2560320" cy="1463040"/>
          </a:xfrm>
          <a:prstGeom prst="rect">
            <a:avLst/>
          </a:prstGeom>
          <a:solidFill>
            <a:srgbClr val="334155"/>
          </a:solidFill>
          <a:ln/>
        </p:spPr>
      </p:sp>
      <p:sp>
        <p:nvSpPr>
          <p:cNvPr id="4" name="Shape 2"/>
          <p:cNvSpPr/>
          <p:nvPr/>
        </p:nvSpPr>
        <p:spPr>
          <a:xfrm>
            <a:off x="868680" y="1325880"/>
            <a:ext cx="502920" cy="502920"/>
          </a:xfrm>
          <a:prstGeom prst="ellipse">
            <a:avLst/>
          </a:prstGeom>
          <a:solidFill>
            <a:srgbClr val="3B82F6"/>
          </a:solidFill>
          <a:ln/>
        </p:spPr>
      </p:sp>
      <p:pic>
        <p:nvPicPr>
          <p:cNvPr id="5" name="Image 0" descr="preencoded.png">    </p:cNvPr>
          <p:cNvPicPr>
            <a:picLocks noChangeAspect="1"/>
          </p:cNvPicPr>
          <p:nvPr/>
        </p:nvPicPr>
        <p:blipFill>
          <a:blip r:embed="rId1"/>
          <a:stretch>
            <a:fillRect/>
          </a:stretch>
        </p:blipFill>
        <p:spPr>
          <a:xfrm>
            <a:off x="978408" y="1435608"/>
            <a:ext cx="283464" cy="283464"/>
          </a:xfrm>
          <a:prstGeom prst="rect">
            <a:avLst/>
          </a:prstGeom>
        </p:spPr>
      </p:pic>
      <p:sp>
        <p:nvSpPr>
          <p:cNvPr id="6" name="Text 3"/>
          <p:cNvSpPr/>
          <p:nvPr/>
        </p:nvSpPr>
        <p:spPr>
          <a:xfrm>
            <a:off x="1508760" y="1280160"/>
            <a:ext cx="14630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Column Picker</a:t>
            </a:r>
            <a:endParaRPr lang="en-US" sz="1400" dirty="0"/>
          </a:p>
        </p:txBody>
      </p:sp>
      <p:sp>
        <p:nvSpPr>
          <p:cNvPr id="7" name="Text 4"/>
          <p:cNvSpPr/>
          <p:nvPr/>
        </p:nvSpPr>
        <p:spPr>
          <a:xfrm>
            <a:off x="1508760" y="1600200"/>
            <a:ext cx="146304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Drag-and-drop with search</a:t>
            </a:r>
            <a:endParaRPr lang="en-US" sz="1100" dirty="0"/>
          </a:p>
        </p:txBody>
      </p:sp>
      <p:sp>
        <p:nvSpPr>
          <p:cNvPr id="8" name="Shape 5"/>
          <p:cNvSpPr/>
          <p:nvPr/>
        </p:nvSpPr>
        <p:spPr>
          <a:xfrm>
            <a:off x="3474720" y="1097280"/>
            <a:ext cx="2560320" cy="1463040"/>
          </a:xfrm>
          <a:prstGeom prst="rect">
            <a:avLst/>
          </a:prstGeom>
          <a:solidFill>
            <a:srgbClr val="334155"/>
          </a:solidFill>
          <a:ln/>
        </p:spPr>
      </p:sp>
      <p:sp>
        <p:nvSpPr>
          <p:cNvPr id="9" name="Shape 6"/>
          <p:cNvSpPr/>
          <p:nvPr/>
        </p:nvSpPr>
        <p:spPr>
          <a:xfrm>
            <a:off x="3703320" y="1325880"/>
            <a:ext cx="502920" cy="502920"/>
          </a:xfrm>
          <a:prstGeom prst="ellipse">
            <a:avLst/>
          </a:prstGeom>
          <a:solidFill>
            <a:srgbClr val="3B82F6"/>
          </a:solidFill>
          <a:ln/>
        </p:spPr>
      </p:sp>
      <p:pic>
        <p:nvPicPr>
          <p:cNvPr id="10" name="Image 1" descr="preencoded.png">    </p:cNvPr>
          <p:cNvPicPr>
            <a:picLocks noChangeAspect="1"/>
          </p:cNvPicPr>
          <p:nvPr/>
        </p:nvPicPr>
        <p:blipFill>
          <a:blip r:embed="rId2"/>
          <a:stretch>
            <a:fillRect/>
          </a:stretch>
        </p:blipFill>
        <p:spPr>
          <a:xfrm>
            <a:off x="3813048" y="1435608"/>
            <a:ext cx="283464" cy="283464"/>
          </a:xfrm>
          <a:prstGeom prst="rect">
            <a:avLst/>
          </a:prstGeom>
        </p:spPr>
      </p:pic>
      <p:sp>
        <p:nvSpPr>
          <p:cNvPr id="11" name="Text 7"/>
          <p:cNvSpPr/>
          <p:nvPr/>
        </p:nvSpPr>
        <p:spPr>
          <a:xfrm>
            <a:off x="4343400" y="1280160"/>
            <a:ext cx="14630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Filter Builder</a:t>
            </a:r>
            <a:endParaRPr lang="en-US" sz="1400" dirty="0"/>
          </a:p>
        </p:txBody>
      </p:sp>
      <p:sp>
        <p:nvSpPr>
          <p:cNvPr id="12" name="Text 8"/>
          <p:cNvSpPr/>
          <p:nvPr/>
        </p:nvSpPr>
        <p:spPr>
          <a:xfrm>
            <a:off x="4343400" y="1600200"/>
            <a:ext cx="146304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"is exactly", "contains", "is blank"</a:t>
            </a:r>
            <a:endParaRPr lang="en-US" sz="1100" dirty="0"/>
          </a:p>
        </p:txBody>
      </p:sp>
      <p:sp>
        <p:nvSpPr>
          <p:cNvPr id="13" name="Shape 9"/>
          <p:cNvSpPr/>
          <p:nvPr/>
        </p:nvSpPr>
        <p:spPr>
          <a:xfrm>
            <a:off x="6309360" y="1097280"/>
            <a:ext cx="2560320" cy="1463040"/>
          </a:xfrm>
          <a:prstGeom prst="rect">
            <a:avLst/>
          </a:prstGeom>
          <a:solidFill>
            <a:srgbClr val="334155"/>
          </a:solidFill>
          <a:ln/>
        </p:spPr>
      </p:sp>
      <p:sp>
        <p:nvSpPr>
          <p:cNvPr id="14" name="Shape 10"/>
          <p:cNvSpPr/>
          <p:nvPr/>
        </p:nvSpPr>
        <p:spPr>
          <a:xfrm>
            <a:off x="6537960" y="1325880"/>
            <a:ext cx="502920" cy="502920"/>
          </a:xfrm>
          <a:prstGeom prst="ellipse">
            <a:avLst/>
          </a:prstGeom>
          <a:solidFill>
            <a:srgbClr val="3B82F6"/>
          </a:solidFill>
          <a:ln/>
        </p:spPr>
      </p:sp>
      <p:pic>
        <p:nvPicPr>
          <p:cNvPr id="15" name="Image 2" descr="preencoded.png">    </p:cNvPr>
          <p:cNvPicPr>
            <a:picLocks noChangeAspect="1"/>
          </p:cNvPicPr>
          <p:nvPr/>
        </p:nvPicPr>
        <p:blipFill>
          <a:blip r:embed="rId3"/>
          <a:stretch>
            <a:fillRect/>
          </a:stretch>
        </p:blipFill>
        <p:spPr>
          <a:xfrm>
            <a:off x="6647688" y="1435608"/>
            <a:ext cx="283464" cy="283464"/>
          </a:xfrm>
          <a:prstGeom prst="rect">
            <a:avLst/>
          </a:prstGeom>
        </p:spPr>
      </p:pic>
      <p:sp>
        <p:nvSpPr>
          <p:cNvPr id="16" name="Text 11"/>
          <p:cNvSpPr/>
          <p:nvPr/>
        </p:nvSpPr>
        <p:spPr>
          <a:xfrm>
            <a:off x="7178040" y="1280160"/>
            <a:ext cx="14630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Join Builder</a:t>
            </a:r>
            <a:endParaRPr lang="en-US" sz="1400" dirty="0"/>
          </a:p>
        </p:txBody>
      </p:sp>
      <p:sp>
        <p:nvSpPr>
          <p:cNvPr id="17" name="Text 12"/>
          <p:cNvSpPr/>
          <p:nvPr/>
        </p:nvSpPr>
        <p:spPr>
          <a:xfrm>
            <a:off x="7178040" y="1600200"/>
            <a:ext cx="146304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Auto-suggested from schema</a:t>
            </a:r>
            <a:endParaRPr lang="en-US" sz="1100" dirty="0"/>
          </a:p>
        </p:txBody>
      </p:sp>
      <p:sp>
        <p:nvSpPr>
          <p:cNvPr id="18" name="Shape 13"/>
          <p:cNvSpPr/>
          <p:nvPr/>
        </p:nvSpPr>
        <p:spPr>
          <a:xfrm>
            <a:off x="640080" y="2834640"/>
            <a:ext cx="2560320" cy="1463040"/>
          </a:xfrm>
          <a:prstGeom prst="rect">
            <a:avLst/>
          </a:prstGeom>
          <a:solidFill>
            <a:srgbClr val="334155"/>
          </a:solidFill>
          <a:ln/>
        </p:spPr>
      </p:sp>
      <p:sp>
        <p:nvSpPr>
          <p:cNvPr id="19" name="Shape 14"/>
          <p:cNvSpPr/>
          <p:nvPr/>
        </p:nvSpPr>
        <p:spPr>
          <a:xfrm>
            <a:off x="868680" y="3063240"/>
            <a:ext cx="502920" cy="502920"/>
          </a:xfrm>
          <a:prstGeom prst="ellipse">
            <a:avLst/>
          </a:prstGeom>
          <a:solidFill>
            <a:srgbClr val="3B82F6"/>
          </a:solidFill>
          <a:ln/>
        </p:spPr>
      </p:sp>
      <p:pic>
        <p:nvPicPr>
          <p:cNvPr id="20" name="Image 3" descr="preencoded.png">    </p:cNvPr>
          <p:cNvPicPr>
            <a:picLocks noChangeAspect="1"/>
          </p:cNvPicPr>
          <p:nvPr/>
        </p:nvPicPr>
        <p:blipFill>
          <a:blip r:embed="rId4"/>
          <a:stretch>
            <a:fillRect/>
          </a:stretch>
        </p:blipFill>
        <p:spPr>
          <a:xfrm>
            <a:off x="978408" y="3172968"/>
            <a:ext cx="283464" cy="283464"/>
          </a:xfrm>
          <a:prstGeom prst="rect">
            <a:avLst/>
          </a:prstGeom>
        </p:spPr>
      </p:pic>
      <p:sp>
        <p:nvSpPr>
          <p:cNvPr id="21" name="Text 15"/>
          <p:cNvSpPr/>
          <p:nvPr/>
        </p:nvSpPr>
        <p:spPr>
          <a:xfrm>
            <a:off x="1508760" y="3017520"/>
            <a:ext cx="14630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Sort &amp; Limit</a:t>
            </a:r>
            <a:endParaRPr lang="en-US" sz="1400" dirty="0"/>
          </a:p>
        </p:txBody>
      </p:sp>
      <p:sp>
        <p:nvSpPr>
          <p:cNvPr id="22" name="Text 16"/>
          <p:cNvSpPr/>
          <p:nvPr/>
        </p:nvSpPr>
        <p:spPr>
          <a:xfrm>
            <a:off x="1508760" y="3337560"/>
            <a:ext cx="146304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Multi-column sort + row limits</a:t>
            </a:r>
            <a:endParaRPr lang="en-US" sz="1100" dirty="0"/>
          </a:p>
        </p:txBody>
      </p:sp>
      <p:sp>
        <p:nvSpPr>
          <p:cNvPr id="23" name="Shape 17"/>
          <p:cNvSpPr/>
          <p:nvPr/>
        </p:nvSpPr>
        <p:spPr>
          <a:xfrm>
            <a:off x="3474720" y="2834640"/>
            <a:ext cx="2560320" cy="1463040"/>
          </a:xfrm>
          <a:prstGeom prst="rect">
            <a:avLst/>
          </a:prstGeom>
          <a:solidFill>
            <a:srgbClr val="334155"/>
          </a:solidFill>
          <a:ln/>
        </p:spPr>
      </p:sp>
      <p:sp>
        <p:nvSpPr>
          <p:cNvPr id="24" name="Shape 18"/>
          <p:cNvSpPr/>
          <p:nvPr/>
        </p:nvSpPr>
        <p:spPr>
          <a:xfrm>
            <a:off x="3703320" y="3063240"/>
            <a:ext cx="502920" cy="502920"/>
          </a:xfrm>
          <a:prstGeom prst="ellipse">
            <a:avLst/>
          </a:prstGeom>
          <a:solidFill>
            <a:srgbClr val="3B82F6"/>
          </a:solidFill>
          <a:ln/>
        </p:spPr>
      </p:sp>
      <p:pic>
        <p:nvPicPr>
          <p:cNvPr id="25" name="Image 4" descr="preencoded.png">    </p:cNvPr>
          <p:cNvPicPr>
            <a:picLocks noChangeAspect="1"/>
          </p:cNvPicPr>
          <p:nvPr/>
        </p:nvPicPr>
        <p:blipFill>
          <a:blip r:embed="rId5"/>
          <a:stretch>
            <a:fillRect/>
          </a:stretch>
        </p:blipFill>
        <p:spPr>
          <a:xfrm>
            <a:off x="3813048" y="3172968"/>
            <a:ext cx="283464" cy="283464"/>
          </a:xfrm>
          <a:prstGeom prst="rect">
            <a:avLst/>
          </a:prstGeom>
        </p:spPr>
      </p:pic>
      <p:sp>
        <p:nvSpPr>
          <p:cNvPr id="26" name="Text 19"/>
          <p:cNvSpPr/>
          <p:nvPr/>
        </p:nvSpPr>
        <p:spPr>
          <a:xfrm>
            <a:off x="4343400" y="3017520"/>
            <a:ext cx="14630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Auto-Save</a:t>
            </a:r>
            <a:endParaRPr lang="en-US" sz="1400" dirty="0"/>
          </a:p>
        </p:txBody>
      </p:sp>
      <p:sp>
        <p:nvSpPr>
          <p:cNvPr id="27" name="Text 20"/>
          <p:cNvSpPr/>
          <p:nvPr/>
        </p:nvSpPr>
        <p:spPr>
          <a:xfrm>
            <a:off x="4343400" y="3337560"/>
            <a:ext cx="146304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Debounced save + Ctrl+S</a:t>
            </a:r>
            <a:endParaRPr lang="en-US" sz="1100" dirty="0"/>
          </a:p>
        </p:txBody>
      </p:sp>
      <p:sp>
        <p:nvSpPr>
          <p:cNvPr id="28" name="Shape 21"/>
          <p:cNvSpPr/>
          <p:nvPr/>
        </p:nvSpPr>
        <p:spPr>
          <a:xfrm>
            <a:off x="6309360" y="2834640"/>
            <a:ext cx="2560320" cy="1463040"/>
          </a:xfrm>
          <a:prstGeom prst="rect">
            <a:avLst/>
          </a:prstGeom>
          <a:solidFill>
            <a:srgbClr val="334155"/>
          </a:solidFill>
          <a:ln/>
        </p:spPr>
      </p:sp>
      <p:sp>
        <p:nvSpPr>
          <p:cNvPr id="29" name="Shape 22"/>
          <p:cNvSpPr/>
          <p:nvPr/>
        </p:nvSpPr>
        <p:spPr>
          <a:xfrm>
            <a:off x="6537960" y="3063240"/>
            <a:ext cx="502920" cy="502920"/>
          </a:xfrm>
          <a:prstGeom prst="ellipse">
            <a:avLst/>
          </a:prstGeom>
          <a:solidFill>
            <a:srgbClr val="3B82F6"/>
          </a:solidFill>
          <a:ln/>
        </p:spPr>
      </p:sp>
      <p:pic>
        <p:nvPicPr>
          <p:cNvPr id="30" name="Image 5" descr="preencoded.png">    </p:cNvPr>
          <p:cNvPicPr>
            <a:picLocks noChangeAspect="1"/>
          </p:cNvPicPr>
          <p:nvPr/>
        </p:nvPicPr>
        <p:blipFill>
          <a:blip r:embed="rId6"/>
          <a:stretch>
            <a:fillRect/>
          </a:stretch>
        </p:blipFill>
        <p:spPr>
          <a:xfrm>
            <a:off x="6647688" y="3172968"/>
            <a:ext cx="283464" cy="283464"/>
          </a:xfrm>
          <a:prstGeom prst="rect">
            <a:avLst/>
          </a:prstGeom>
        </p:spPr>
      </p:pic>
      <p:sp>
        <p:nvSpPr>
          <p:cNvPr id="31" name="Text 23"/>
          <p:cNvSpPr/>
          <p:nvPr/>
        </p:nvSpPr>
        <p:spPr>
          <a:xfrm>
            <a:off x="7178040" y="3017520"/>
            <a:ext cx="14630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Undo / Redo</a:t>
            </a:r>
            <a:endParaRPr lang="en-US" sz="1400" dirty="0"/>
          </a:p>
        </p:txBody>
      </p:sp>
      <p:sp>
        <p:nvSpPr>
          <p:cNvPr id="32" name="Text 24"/>
          <p:cNvSpPr/>
          <p:nvPr/>
        </p:nvSpPr>
        <p:spPr>
          <a:xfrm>
            <a:off x="7178040" y="3337560"/>
            <a:ext cx="146304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80-step history stack</a:t>
            </a:r>
            <a:endParaRPr lang="en-US" sz="1100" dirty="0"/>
          </a:p>
        </p:txBody>
      </p:sp>
      <p:sp>
        <p:nvSpPr>
          <p:cNvPr id="33" name="Text 25"/>
          <p:cNvSpPr/>
          <p:nvPr/>
        </p:nvSpPr>
        <p:spPr>
          <a:xfrm>
            <a:off x="640080" y="4572000"/>
            <a:ext cx="7863840" cy="32004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Also: multi-tab queries, SQL export, sub-query stages, dialect-aware SQL compiler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548640"/>
          </a:xfrm>
          <a:prstGeom prst="rect">
            <a:avLst/>
          </a:prstGeom>
          <a:noFill/>
          <a:ln/>
        </p:spPr>
        <p:txBody>
          <a:bodyPr wrap="square" lIns="0" tIns="0" rIns="0" bIns="0"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Data Collection &amp; Preparation</a:t>
            </a:r>
            <a:endParaRPr lang="en-US" sz="2800" dirty="0"/>
          </a:p>
        </p:txBody>
      </p:sp>
      <p:sp>
        <p:nvSpPr>
          <p:cNvPr id="3" name="Shape 1"/>
          <p:cNvSpPr/>
          <p:nvPr/>
        </p:nvSpPr>
        <p:spPr>
          <a:xfrm>
            <a:off x="1371600" y="1280160"/>
            <a:ext cx="6400800" cy="1463040"/>
          </a:xfrm>
          <a:prstGeom prst="rect">
            <a:avLst/>
          </a:prstGeom>
          <a:solidFill>
            <a:srgbClr val="F1F5F9"/>
          </a:solidFill>
          <a:ln/>
          <a:effectLst>
            <a:outerShdw sx="100000" sy="100000" kx="0" ky="0" algn="bl" rotWithShape="0" blurRad="101600" dist="25400" dir="8100000">
              <a:srgbClr val="000000">
                <a:alpha val="10000"/>
              </a:srgbClr>
            </a:outerShdw>
          </a:effectLst>
        </p:spPr>
      </p:sp>
      <p:sp>
        <p:nvSpPr>
          <p:cNvPr id="4" name="Text 2"/>
          <p:cNvSpPr/>
          <p:nvPr/>
        </p:nvSpPr>
        <p:spPr>
          <a:xfrm>
            <a:off x="1371600" y="1417320"/>
            <a:ext cx="6400800" cy="411480"/>
          </a:xfrm>
          <a:prstGeom prst="rect">
            <a:avLst/>
          </a:prstGeom>
          <a:noFill/>
          <a:ln/>
        </p:spPr>
        <p:txBody>
          <a:bodyPr wrap="square" lIns="0" tIns="0" rIns="0" bIns="0"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This is primarily a UI/UX design project</a:t>
            </a:r>
            <a:endParaRPr lang="en-US" sz="1600" dirty="0"/>
          </a:p>
        </p:txBody>
      </p:sp>
      <p:sp>
        <p:nvSpPr>
          <p:cNvPr id="5" name="Text 3"/>
          <p:cNvSpPr/>
          <p:nvPr/>
        </p:nvSpPr>
        <p:spPr>
          <a:xfrm>
            <a:off x="1645920" y="1920240"/>
            <a:ext cx="5852160" cy="640080"/>
          </a:xfrm>
          <a:prstGeom prst="rect">
            <a:avLst/>
          </a:prstGeom>
          <a:noFill/>
          <a:ln/>
        </p:spPr>
        <p:txBody>
          <a:bodyPr wrap="square" rtlCol="0" anchor="ctr"/>
          <a:lstStyle/>
          <a:p>
            <a:pPr algn="ctr" indent="0" marL="0">
              <a:buNone/>
            </a:pPr>
            <a:r>
              <a:rPr lang="en-US" sz="1300" dirty="0">
                <a:solidFill>
                  <a:srgbClr val="475569"/>
                </a:solidFill>
                <a:latin typeface="Calibri" pitchFamily="34" charset="0"/>
                <a:ea typeface="Calibri" pitchFamily="34" charset="-122"/>
                <a:cs typeface="Calibri" pitchFamily="34" charset="-120"/>
              </a:rPr>
              <a:t>We are not training models or analyzing datasets. Our "data" is user interaction patterns and usability feedback.</a:t>
            </a:r>
            <a:endParaRPr lang="en-US" sz="1300" dirty="0"/>
          </a:p>
        </p:txBody>
      </p:sp>
      <p:sp>
        <p:nvSpPr>
          <p:cNvPr id="6" name="Shape 4"/>
          <p:cNvSpPr/>
          <p:nvPr/>
        </p:nvSpPr>
        <p:spPr>
          <a:xfrm>
            <a:off x="640080" y="3108960"/>
            <a:ext cx="3840480" cy="1645920"/>
          </a:xfrm>
          <a:prstGeom prst="rect">
            <a:avLst/>
          </a:prstGeom>
          <a:solidFill>
            <a:srgbClr val="F1F5F9"/>
          </a:solidFill>
          <a:ln/>
          <a:effectLst>
            <a:outerShdw sx="100000" sy="100000" kx="0" ky="0" algn="bl" rotWithShape="0" blurRad="101600" dist="25400" dir="8100000">
              <a:srgbClr val="000000">
                <a:alpha val="10000"/>
              </a:srgbClr>
            </a:outerShdw>
          </a:effectLst>
        </p:spPr>
      </p:sp>
      <p:sp>
        <p:nvSpPr>
          <p:cNvPr id="7" name="Text 5"/>
          <p:cNvSpPr/>
          <p:nvPr/>
        </p:nvSpPr>
        <p:spPr>
          <a:xfrm>
            <a:off x="640080" y="3200400"/>
            <a:ext cx="3840480" cy="32004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What We Work With</a:t>
            </a:r>
            <a:endParaRPr lang="en-US" sz="1400" dirty="0"/>
          </a:p>
        </p:txBody>
      </p:sp>
      <p:sp>
        <p:nvSpPr>
          <p:cNvPr id="8" name="Text 6"/>
          <p:cNvSpPr/>
          <p:nvPr/>
        </p:nvSpPr>
        <p:spPr>
          <a:xfrm>
            <a:off x="914400" y="3611880"/>
            <a:ext cx="3291840" cy="1005840"/>
          </a:xfrm>
          <a:prstGeom prst="rect">
            <a:avLst/>
          </a:prstGeom>
          <a:noFill/>
          <a:ln/>
        </p:spPr>
        <p:txBody>
          <a:bodyPr wrap="square" rtlCol="0" anchor="t"/>
          <a:lstStyle/>
          <a:p>
            <a:pPr marL="342900" indent="-342900">
              <a:buSzPct val="100000"/>
              <a:buChar char="•"/>
            </a:pPr>
            <a:r>
              <a:rPr lang="en-US" sz="1200" dirty="0">
                <a:solidFill>
                  <a:srgbClr val="475569"/>
                </a:solidFill>
              </a:rPr>
              <a:t>Database schema metadata (tables, columns, types)</a:t>
            </a:r>
            <a:endParaRPr lang="en-US" sz="1200" dirty="0"/>
          </a:p>
          <a:p>
            <a:pPr marL="342900" indent="-342900">
              <a:buSzPct val="100000"/>
              <a:buChar char="•"/>
            </a:pPr>
            <a:r>
              <a:rPr lang="en-US" sz="1200" dirty="0">
                <a:solidFill>
                  <a:srgbClr val="475569"/>
                </a:solidFill>
              </a:rPr>
              <a:t>Real datasources for testing (Northwind, Banner)</a:t>
            </a:r>
            <a:endParaRPr lang="en-US" sz="1200" dirty="0"/>
          </a:p>
          <a:p>
            <a:pPr marL="342900" indent="-342900">
              <a:buSzPct val="100000"/>
              <a:buChar char="•"/>
            </a:pPr>
            <a:r>
              <a:rPr lang="en-US" sz="1200" dirty="0">
                <a:solidFill>
                  <a:srgbClr val="475569"/>
                </a:solidFill>
              </a:rPr>
              <a:t>Query definitions (JSON structures)</a:t>
            </a:r>
            <a:endParaRPr lang="en-US" sz="1200" dirty="0"/>
          </a:p>
        </p:txBody>
      </p:sp>
      <p:sp>
        <p:nvSpPr>
          <p:cNvPr id="9" name="Shape 7"/>
          <p:cNvSpPr/>
          <p:nvPr/>
        </p:nvSpPr>
        <p:spPr>
          <a:xfrm>
            <a:off x="4663440" y="3108960"/>
            <a:ext cx="3840480" cy="1645920"/>
          </a:xfrm>
          <a:prstGeom prst="rect">
            <a:avLst/>
          </a:prstGeom>
          <a:solidFill>
            <a:srgbClr val="F1F5F9"/>
          </a:solidFill>
          <a:ln/>
          <a:effectLst>
            <a:outerShdw sx="100000" sy="100000" kx="0" ky="0" algn="bl" rotWithShape="0" blurRad="101600" dist="25400" dir="8100000">
              <a:srgbClr val="000000">
                <a:alpha val="10000"/>
              </a:srgbClr>
            </a:outerShdw>
          </a:effectLst>
        </p:spPr>
      </p:sp>
      <p:sp>
        <p:nvSpPr>
          <p:cNvPr id="10" name="Text 8"/>
          <p:cNvSpPr/>
          <p:nvPr/>
        </p:nvSpPr>
        <p:spPr>
          <a:xfrm>
            <a:off x="4663440" y="3200400"/>
            <a:ext cx="3840480" cy="320040"/>
          </a:xfrm>
          <a:prstGeom prst="rect">
            <a:avLst/>
          </a:prstGeom>
          <a:noFill/>
          <a:ln/>
        </p:spPr>
        <p:txBody>
          <a:bodyPr wrap="square" lIns="0" tIns="0" rIns="0" bIns="0" rtlCol="0" anchor="ctr"/>
          <a:lstStyle/>
          <a:p>
            <a:pPr algn="ctr" indent="0" marL="0">
              <a:buNone/>
            </a:pPr>
            <a:r>
              <a:rPr lang="en-US" sz="1400" b="1" dirty="0">
                <a:solidFill>
                  <a:srgbClr val="3B82F6"/>
                </a:solidFill>
                <a:latin typeface="Calibri" pitchFamily="34" charset="0"/>
                <a:ea typeface="Calibri" pitchFamily="34" charset="-122"/>
                <a:cs typeface="Calibri" pitchFamily="34" charset="-120"/>
              </a:rPr>
              <a:t>What We Will Collect</a:t>
            </a:r>
            <a:endParaRPr lang="en-US" sz="1400" dirty="0"/>
          </a:p>
        </p:txBody>
      </p:sp>
      <p:sp>
        <p:nvSpPr>
          <p:cNvPr id="11" name="Text 9"/>
          <p:cNvSpPr/>
          <p:nvPr/>
        </p:nvSpPr>
        <p:spPr>
          <a:xfrm>
            <a:off x="4937760" y="3611880"/>
            <a:ext cx="3291840" cy="1005840"/>
          </a:xfrm>
          <a:prstGeom prst="rect">
            <a:avLst/>
          </a:prstGeom>
          <a:noFill/>
          <a:ln/>
        </p:spPr>
        <p:txBody>
          <a:bodyPr wrap="square" rtlCol="0" anchor="t"/>
          <a:lstStyle/>
          <a:p>
            <a:pPr marL="342900" indent="-342900">
              <a:buSzPct val="100000"/>
              <a:buChar char="•"/>
            </a:pPr>
            <a:r>
              <a:rPr lang="en-US" sz="1200" dirty="0">
                <a:solidFill>
                  <a:srgbClr val="475569"/>
                </a:solidFill>
              </a:rPr>
              <a:t>Usability survey responses (Likert + text)</a:t>
            </a:r>
            <a:endParaRPr lang="en-US" sz="1200" dirty="0"/>
          </a:p>
          <a:p>
            <a:pPr marL="342900" indent="-342900">
              <a:buSzPct val="100000"/>
              <a:buChar char="•"/>
            </a:pPr>
            <a:r>
              <a:rPr lang="en-US" sz="1200" dirty="0">
                <a:solidFill>
                  <a:srgbClr val="475569"/>
                </a:solidFill>
              </a:rPr>
              <a:t>Task completion observations</a:t>
            </a:r>
            <a:endParaRPr lang="en-US" sz="1200" dirty="0"/>
          </a:p>
          <a:p>
            <a:pPr marL="342900" indent="-342900">
              <a:buSzPct val="100000"/>
              <a:buChar char="•"/>
            </a:pPr>
            <a:r>
              <a:rPr lang="en-US" sz="1200" dirty="0">
                <a:solidFill>
                  <a:srgbClr val="475569"/>
                </a:solidFill>
              </a:rPr>
              <a:t>Old vs. new QD comparison ratings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640080" y="365760"/>
            <a:ext cx="7315200" cy="548640"/>
          </a:xfrm>
          <a:prstGeom prst="rect">
            <a:avLst/>
          </a:prstGeom>
          <a:noFill/>
          <a:ln/>
        </p:spPr>
        <p:txBody>
          <a:bodyPr wrap="square" lIns="0" tIns="0" rIns="0" bIns="0"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AI &amp; Model Development</a:t>
            </a:r>
            <a:endParaRPr lang="en-US" sz="2800" dirty="0"/>
          </a:p>
        </p:txBody>
      </p:sp>
      <p:sp>
        <p:nvSpPr>
          <p:cNvPr id="3" name="Shape 1"/>
          <p:cNvSpPr/>
          <p:nvPr/>
        </p:nvSpPr>
        <p:spPr>
          <a:xfrm>
            <a:off x="640080" y="1051560"/>
            <a:ext cx="7863840" cy="502920"/>
          </a:xfrm>
          <a:prstGeom prst="rect">
            <a:avLst/>
          </a:prstGeom>
          <a:solidFill>
            <a:srgbClr val="FEF3C7"/>
          </a:solidFill>
          <a:ln/>
        </p:spPr>
      </p:sp>
      <p:sp>
        <p:nvSpPr>
          <p:cNvPr id="4" name="Text 2"/>
          <p:cNvSpPr/>
          <p:nvPr/>
        </p:nvSpPr>
        <p:spPr>
          <a:xfrm>
            <a:off x="914400" y="1051560"/>
            <a:ext cx="7315200" cy="502920"/>
          </a:xfrm>
          <a:prstGeom prst="rect">
            <a:avLst/>
          </a:prstGeom>
          <a:noFill/>
          <a:ln/>
        </p:spPr>
        <p:txBody>
          <a:bodyPr wrap="square" rtlCol="0" anchor="ctr"/>
          <a:lstStyle/>
          <a:p>
            <a:pPr algn="ctr" indent="0" marL="0">
              <a:buNone/>
            </a:pPr>
            <a:r>
              <a:rPr lang="en-US" sz="1300" dirty="0">
                <a:solidFill>
                  <a:srgbClr val="92400E"/>
                </a:solidFill>
                <a:latin typeface="Calibri" pitchFamily="34" charset="0"/>
                <a:ea typeface="Calibri" pitchFamily="34" charset="-122"/>
                <a:cs typeface="Calibri" pitchFamily="34" charset="-120"/>
              </a:rPr>
              <a:t>Our project is primarily UX/UI design. AI integration is a secondary, exploratory feature.</a:t>
            </a:r>
            <a:endParaRPr lang="en-US" sz="1300" dirty="0"/>
          </a:p>
        </p:txBody>
      </p:sp>
      <p:sp>
        <p:nvSpPr>
          <p:cNvPr id="5" name="Shape 3"/>
          <p:cNvSpPr/>
          <p:nvPr/>
        </p:nvSpPr>
        <p:spPr>
          <a:xfrm>
            <a:off x="640080" y="1828800"/>
            <a:ext cx="3840480" cy="26517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6" name="Shape 4"/>
          <p:cNvSpPr/>
          <p:nvPr/>
        </p:nvSpPr>
        <p:spPr>
          <a:xfrm>
            <a:off x="640080" y="1828800"/>
            <a:ext cx="3840480" cy="411480"/>
          </a:xfrm>
          <a:prstGeom prst="rect">
            <a:avLst/>
          </a:prstGeom>
          <a:solidFill>
            <a:srgbClr val="7C3AED"/>
          </a:solidFill>
          <a:ln/>
        </p:spPr>
      </p:sp>
      <p:sp>
        <p:nvSpPr>
          <p:cNvPr id="7" name="Text 5"/>
          <p:cNvSpPr/>
          <p:nvPr/>
        </p:nvSpPr>
        <p:spPr>
          <a:xfrm>
            <a:off x="640080" y="1828800"/>
            <a:ext cx="3840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Natural Language Bar</a:t>
            </a:r>
            <a:endParaRPr lang="en-US" sz="1300" dirty="0"/>
          </a:p>
        </p:txBody>
      </p:sp>
      <p:sp>
        <p:nvSpPr>
          <p:cNvPr id="8" name="Text 6"/>
          <p:cNvSpPr/>
          <p:nvPr/>
        </p:nvSpPr>
        <p:spPr>
          <a:xfrm>
            <a:off x="914400" y="2377440"/>
            <a:ext cx="3291840" cy="1920240"/>
          </a:xfrm>
          <a:prstGeom prst="rect">
            <a:avLst/>
          </a:prstGeom>
          <a:noFill/>
          <a:ln/>
        </p:spPr>
        <p:txBody>
          <a:bodyPr wrap="square" rtlCol="0" anchor="t"/>
          <a:lstStyle/>
          <a:p>
            <a:pPr marL="342900" indent="-342900">
              <a:buSzPct val="100000"/>
              <a:buChar char="•"/>
            </a:pPr>
            <a:r>
              <a:rPr lang="en-US" sz="1200" dirty="0">
                <a:solidFill>
                  <a:srgbClr val="475569"/>
                </a:solidFill>
              </a:rPr>
              <a:t>Describe a query in plain English</a:t>
            </a:r>
            <a:endParaRPr lang="en-US" sz="1200" dirty="0"/>
          </a:p>
          <a:p>
            <a:pPr marL="342900" indent="-342900">
              <a:buSzPct val="100000"/>
              <a:buChar char="•"/>
            </a:pPr>
            <a:r>
              <a:rPr lang="en-US" sz="1200" dirty="0">
                <a:solidFill>
                  <a:srgbClr val="475569"/>
                </a:solidFill>
              </a:rPr>
              <a:t>AI searches schema metadata first</a:t>
            </a:r>
            <a:endParaRPr lang="en-US" sz="1200" dirty="0"/>
          </a:p>
          <a:p>
            <a:pPr marL="342900" indent="-342900">
              <a:buSzPct val="100000"/>
              <a:buChar char="•"/>
            </a:pPr>
            <a:r>
              <a:rPr lang="en-US" sz="1200" dirty="0">
                <a:solidFill>
                  <a:srgbClr val="475569"/>
                </a:solidFill>
              </a:rPr>
              <a:t>Generates SQL and inserts it directly</a:t>
            </a:r>
            <a:endParaRPr lang="en-US" sz="1200" dirty="0"/>
          </a:p>
          <a:p>
            <a:pPr marL="342900" indent="-342900">
              <a:buSzPct val="100000"/>
              <a:buChar char="•"/>
            </a:pPr>
            <a:r>
              <a:rPr lang="en-US" sz="1200" dirty="0">
                <a:solidFill>
                  <a:srgbClr val="475569"/>
                </a:solidFill>
              </a:rPr>
              <a:t>Uses Informer's built-in LLM models</a:t>
            </a:r>
            <a:endParaRPr lang="en-US" sz="1200" dirty="0"/>
          </a:p>
          <a:p>
            <a:pPr indent="0" marL="0">
              <a:buNone/>
            </a:pPr>
            <a:endParaRPr lang="en-US" sz="1200" dirty="0"/>
          </a:p>
          <a:p>
            <a:pPr indent="0" marL="0">
              <a:buNone/>
            </a:pPr>
            <a:r>
              <a:rPr lang="en-US" sz="1100" i="1" dirty="0">
                <a:solidFill>
                  <a:srgbClr val="7C3AED"/>
                </a:solidFill>
              </a:rPr>
              <a:t>"Show me all customers from Germany"</a:t>
            </a:r>
            <a:endParaRPr lang="en-US" sz="1200" dirty="0"/>
          </a:p>
        </p:txBody>
      </p:sp>
      <p:sp>
        <p:nvSpPr>
          <p:cNvPr id="9" name="Shape 7"/>
          <p:cNvSpPr/>
          <p:nvPr/>
        </p:nvSpPr>
        <p:spPr>
          <a:xfrm>
            <a:off x="4663440" y="1828800"/>
            <a:ext cx="3840480" cy="26517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0" name="Shape 8"/>
          <p:cNvSpPr/>
          <p:nvPr/>
        </p:nvSpPr>
        <p:spPr>
          <a:xfrm>
            <a:off x="4663440" y="1828800"/>
            <a:ext cx="3840480" cy="411480"/>
          </a:xfrm>
          <a:prstGeom prst="rect">
            <a:avLst/>
          </a:prstGeom>
          <a:solidFill>
            <a:srgbClr val="3B82F6"/>
          </a:solidFill>
          <a:ln/>
        </p:spPr>
      </p:sp>
      <p:sp>
        <p:nvSpPr>
          <p:cNvPr id="11" name="Text 9"/>
          <p:cNvSpPr/>
          <p:nvPr/>
        </p:nvSpPr>
        <p:spPr>
          <a:xfrm>
            <a:off x="4663440" y="1828800"/>
            <a:ext cx="3840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AI Chat Sidebar</a:t>
            </a:r>
            <a:endParaRPr lang="en-US" sz="1300" dirty="0"/>
          </a:p>
        </p:txBody>
      </p:sp>
      <p:sp>
        <p:nvSpPr>
          <p:cNvPr id="12" name="Text 10"/>
          <p:cNvSpPr/>
          <p:nvPr/>
        </p:nvSpPr>
        <p:spPr>
          <a:xfrm>
            <a:off x="4937760" y="2377440"/>
            <a:ext cx="3291840" cy="1920240"/>
          </a:xfrm>
          <a:prstGeom prst="rect">
            <a:avLst/>
          </a:prstGeom>
          <a:noFill/>
          <a:ln/>
        </p:spPr>
        <p:txBody>
          <a:bodyPr wrap="square" rtlCol="0" anchor="t"/>
          <a:lstStyle/>
          <a:p>
            <a:pPr marL="342900" indent="-342900">
              <a:buSzPct val="100000"/>
              <a:buChar char="•"/>
            </a:pPr>
            <a:r>
              <a:rPr lang="en-US" sz="1200" dirty="0">
                <a:solidFill>
                  <a:srgbClr val="475569"/>
                </a:solidFill>
              </a:rPr>
              <a:t>Conversational query builder</a:t>
            </a:r>
            <a:endParaRPr lang="en-US" sz="1200" dirty="0"/>
          </a:p>
          <a:p>
            <a:pPr marL="342900" indent="-342900">
              <a:buSzPct val="100000"/>
              <a:buChar char="•"/>
            </a:pPr>
            <a:r>
              <a:rPr lang="en-US" sz="1200" dirty="0">
                <a:solidFill>
                  <a:srgbClr val="475569"/>
                </a:solidFill>
              </a:rPr>
              <a:t>Modifies the visual builder state</a:t>
            </a:r>
            <a:endParaRPr lang="en-US" sz="1200" dirty="0"/>
          </a:p>
          <a:p>
            <a:pPr marL="342900" indent="-342900">
              <a:buSzPct val="100000"/>
              <a:buChar char="•"/>
            </a:pPr>
            <a:r>
              <a:rPr lang="en-US" sz="1200" dirty="0">
                <a:solidFill>
                  <a:srgbClr val="475569"/>
                </a:solidFill>
              </a:rPr>
              <a:t>Understands current query context</a:t>
            </a:r>
            <a:endParaRPr lang="en-US" sz="1200" dirty="0"/>
          </a:p>
          <a:p>
            <a:pPr marL="342900" indent="-342900">
              <a:buSzPct val="100000"/>
              <a:buChar char="•"/>
            </a:pPr>
            <a:r>
              <a:rPr lang="en-US" sz="1200" dirty="0">
                <a:solidFill>
                  <a:srgbClr val="475569"/>
                </a:solidFill>
              </a:rPr>
              <a:t>No custom model — uses platform AI</a:t>
            </a:r>
            <a:endParaRPr lang="en-US" sz="1200" dirty="0"/>
          </a:p>
          <a:p>
            <a:pPr indent="0" marL="0">
              <a:buNone/>
            </a:pPr>
            <a:endParaRPr lang="en-US" sz="1200" dirty="0"/>
          </a:p>
          <a:p>
            <a:pPr indent="0" marL="0">
              <a:buNone/>
            </a:pPr>
            <a:r>
              <a:rPr lang="en-US" sz="1100" i="1" dirty="0">
                <a:solidFill>
                  <a:srgbClr val="3B82F6"/>
                </a:solidFill>
              </a:rPr>
              <a:t>"Add city and company columns"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548640"/>
          </a:xfrm>
          <a:prstGeom prst="rect">
            <a:avLst/>
          </a:prstGeom>
          <a:noFill/>
          <a:ln/>
        </p:spPr>
        <p:txBody>
          <a:bodyPr wrap="square" lIns="0" tIns="0" rIns="0" bIns="0"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Evaluation Metrics</a:t>
            </a:r>
            <a:endParaRPr lang="en-US" sz="2800" dirty="0"/>
          </a:p>
        </p:txBody>
      </p:sp>
      <p:pic>
        <p:nvPicPr>
          <p:cNvPr id="3" name="Image 0" descr="preencoded.png">    </p:cNvPr>
          <p:cNvPicPr>
            <a:picLocks noChangeAspect="1"/>
          </p:cNvPicPr>
          <p:nvPr/>
        </p:nvPicPr>
        <p:blipFill>
          <a:blip r:embed="rId1"/>
          <a:stretch>
            <a:fillRect/>
          </a:stretch>
        </p:blipFill>
        <p:spPr>
          <a:xfrm>
            <a:off x="640080" y="1051560"/>
            <a:ext cx="411480" cy="411480"/>
          </a:xfrm>
          <a:prstGeom prst="rect">
            <a:avLst/>
          </a:prstGeom>
        </p:spPr>
      </p:pic>
      <p:sp>
        <p:nvSpPr>
          <p:cNvPr id="4" name="Text 1"/>
          <p:cNvSpPr/>
          <p:nvPr/>
        </p:nvSpPr>
        <p:spPr>
          <a:xfrm>
            <a:off x="1188720" y="1051560"/>
            <a:ext cx="6858000" cy="4114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How we measure whether the new Query Designer is actually better</a:t>
            </a:r>
            <a:endParaRPr lang="en-US" sz="1300" dirty="0"/>
          </a:p>
        </p:txBody>
      </p:sp>
      <p:sp>
        <p:nvSpPr>
          <p:cNvPr id="5" name="Shape 2"/>
          <p:cNvSpPr/>
          <p:nvPr/>
        </p:nvSpPr>
        <p:spPr>
          <a:xfrm>
            <a:off x="640080" y="1737360"/>
            <a:ext cx="7863840" cy="640080"/>
          </a:xfrm>
          <a:prstGeom prst="rect">
            <a:avLst/>
          </a:prstGeom>
          <a:solidFill>
            <a:srgbClr val="F1F5F9"/>
          </a:solidFill>
          <a:ln/>
          <a:effectLst>
            <a:outerShdw sx="100000" sy="100000" kx="0" ky="0" algn="bl" rotWithShape="0" blurRad="101600" dist="25400" dir="8100000">
              <a:srgbClr val="000000">
                <a:alpha val="10000"/>
              </a:srgbClr>
            </a:outerShdw>
          </a:effectLst>
        </p:spPr>
      </p:sp>
      <p:sp>
        <p:nvSpPr>
          <p:cNvPr id="6" name="Shape 3"/>
          <p:cNvSpPr/>
          <p:nvPr/>
        </p:nvSpPr>
        <p:spPr>
          <a:xfrm>
            <a:off x="640080" y="1737360"/>
            <a:ext cx="64008" cy="640080"/>
          </a:xfrm>
          <a:prstGeom prst="rect">
            <a:avLst/>
          </a:prstGeom>
          <a:solidFill>
            <a:srgbClr val="3B82F6"/>
          </a:solidFill>
          <a:ln/>
        </p:spPr>
      </p:sp>
      <p:sp>
        <p:nvSpPr>
          <p:cNvPr id="7" name="Text 4"/>
          <p:cNvSpPr/>
          <p:nvPr/>
        </p:nvSpPr>
        <p:spPr>
          <a:xfrm>
            <a:off x="1005840" y="1737360"/>
            <a:ext cx="2011680" cy="64008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Usability Ratings</a:t>
            </a:r>
            <a:endParaRPr lang="en-US" sz="1300" dirty="0"/>
          </a:p>
        </p:txBody>
      </p:sp>
      <p:sp>
        <p:nvSpPr>
          <p:cNvPr id="8" name="Text 5"/>
          <p:cNvSpPr/>
          <p:nvPr/>
        </p:nvSpPr>
        <p:spPr>
          <a:xfrm>
            <a:off x="3017520" y="1737360"/>
            <a:ext cx="5212080" cy="6400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Likert scale (1-5) on ease of use, clarity, and intuitiveness for each feature area</a:t>
            </a:r>
            <a:endParaRPr lang="en-US" sz="1200" dirty="0"/>
          </a:p>
        </p:txBody>
      </p:sp>
      <p:sp>
        <p:nvSpPr>
          <p:cNvPr id="9" name="Shape 6"/>
          <p:cNvSpPr/>
          <p:nvPr/>
        </p:nvSpPr>
        <p:spPr>
          <a:xfrm>
            <a:off x="640080" y="2514600"/>
            <a:ext cx="7863840" cy="640080"/>
          </a:xfrm>
          <a:prstGeom prst="rect">
            <a:avLst/>
          </a:prstGeom>
          <a:solidFill>
            <a:srgbClr val="F1F5F9"/>
          </a:solidFill>
          <a:ln/>
          <a:effectLst>
            <a:outerShdw sx="100000" sy="100000" kx="0" ky="0" algn="bl" rotWithShape="0" blurRad="101600" dist="25400" dir="8100000">
              <a:srgbClr val="000000">
                <a:alpha val="10000"/>
              </a:srgbClr>
            </a:outerShdw>
          </a:effectLst>
        </p:spPr>
      </p:sp>
      <p:sp>
        <p:nvSpPr>
          <p:cNvPr id="10" name="Shape 7"/>
          <p:cNvSpPr/>
          <p:nvPr/>
        </p:nvSpPr>
        <p:spPr>
          <a:xfrm>
            <a:off x="640080" y="2514600"/>
            <a:ext cx="64008" cy="640080"/>
          </a:xfrm>
          <a:prstGeom prst="rect">
            <a:avLst/>
          </a:prstGeom>
          <a:solidFill>
            <a:srgbClr val="0EA5E9"/>
          </a:solidFill>
          <a:ln/>
        </p:spPr>
      </p:sp>
      <p:sp>
        <p:nvSpPr>
          <p:cNvPr id="11" name="Text 8"/>
          <p:cNvSpPr/>
          <p:nvPr/>
        </p:nvSpPr>
        <p:spPr>
          <a:xfrm>
            <a:off x="1005840" y="2514600"/>
            <a:ext cx="2011680" cy="64008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Task Completion</a:t>
            </a:r>
            <a:endParaRPr lang="en-US" sz="1300" dirty="0"/>
          </a:p>
        </p:txBody>
      </p:sp>
      <p:sp>
        <p:nvSpPr>
          <p:cNvPr id="12" name="Text 9"/>
          <p:cNvSpPr/>
          <p:nvPr/>
        </p:nvSpPr>
        <p:spPr>
          <a:xfrm>
            <a:off x="3017520" y="2514600"/>
            <a:ext cx="5212080" cy="6400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Can users complete common query tasks (select columns, add filters, create joins) without help?</a:t>
            </a:r>
            <a:endParaRPr lang="en-US" sz="1200" dirty="0"/>
          </a:p>
        </p:txBody>
      </p:sp>
      <p:sp>
        <p:nvSpPr>
          <p:cNvPr id="13" name="Shape 10"/>
          <p:cNvSpPr/>
          <p:nvPr/>
        </p:nvSpPr>
        <p:spPr>
          <a:xfrm>
            <a:off x="640080" y="3291840"/>
            <a:ext cx="7863840" cy="640080"/>
          </a:xfrm>
          <a:prstGeom prst="rect">
            <a:avLst/>
          </a:prstGeom>
          <a:solidFill>
            <a:srgbClr val="F1F5F9"/>
          </a:solidFill>
          <a:ln/>
          <a:effectLst>
            <a:outerShdw sx="100000" sy="100000" kx="0" ky="0" algn="bl" rotWithShape="0" blurRad="101600" dist="25400" dir="8100000">
              <a:srgbClr val="000000">
                <a:alpha val="10000"/>
              </a:srgbClr>
            </a:outerShdw>
          </a:effectLst>
        </p:spPr>
      </p:sp>
      <p:sp>
        <p:nvSpPr>
          <p:cNvPr id="14" name="Shape 11"/>
          <p:cNvSpPr/>
          <p:nvPr/>
        </p:nvSpPr>
        <p:spPr>
          <a:xfrm>
            <a:off x="640080" y="3291840"/>
            <a:ext cx="64008" cy="640080"/>
          </a:xfrm>
          <a:prstGeom prst="rect">
            <a:avLst/>
          </a:prstGeom>
          <a:solidFill>
            <a:srgbClr val="7C3AED"/>
          </a:solidFill>
          <a:ln/>
        </p:spPr>
      </p:sp>
      <p:sp>
        <p:nvSpPr>
          <p:cNvPr id="15" name="Text 12"/>
          <p:cNvSpPr/>
          <p:nvPr/>
        </p:nvSpPr>
        <p:spPr>
          <a:xfrm>
            <a:off x="1005840" y="3291840"/>
            <a:ext cx="2011680" cy="64008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Comparison Scores</a:t>
            </a:r>
            <a:endParaRPr lang="en-US" sz="1300" dirty="0"/>
          </a:p>
        </p:txBody>
      </p:sp>
      <p:sp>
        <p:nvSpPr>
          <p:cNvPr id="16" name="Text 13"/>
          <p:cNvSpPr/>
          <p:nvPr/>
        </p:nvSpPr>
        <p:spPr>
          <a:xfrm>
            <a:off x="3017520" y="3291840"/>
            <a:ext cx="5212080" cy="6400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Direct old vs. new ratings: which is easier, more professional, has better features?</a:t>
            </a:r>
            <a:endParaRPr lang="en-US" sz="1200" dirty="0"/>
          </a:p>
        </p:txBody>
      </p:sp>
      <p:sp>
        <p:nvSpPr>
          <p:cNvPr id="17" name="Shape 14"/>
          <p:cNvSpPr/>
          <p:nvPr/>
        </p:nvSpPr>
        <p:spPr>
          <a:xfrm>
            <a:off x="640080" y="4069080"/>
            <a:ext cx="7863840" cy="640080"/>
          </a:xfrm>
          <a:prstGeom prst="rect">
            <a:avLst/>
          </a:prstGeom>
          <a:solidFill>
            <a:srgbClr val="F1F5F9"/>
          </a:solidFill>
          <a:ln/>
          <a:effectLst>
            <a:outerShdw sx="100000" sy="100000" kx="0" ky="0" algn="bl" rotWithShape="0" blurRad="101600" dist="25400" dir="8100000">
              <a:srgbClr val="000000">
                <a:alpha val="10000"/>
              </a:srgbClr>
            </a:outerShdw>
          </a:effectLst>
        </p:spPr>
      </p:sp>
      <p:sp>
        <p:nvSpPr>
          <p:cNvPr id="18" name="Shape 15"/>
          <p:cNvSpPr/>
          <p:nvPr/>
        </p:nvSpPr>
        <p:spPr>
          <a:xfrm>
            <a:off x="640080" y="4069080"/>
            <a:ext cx="64008" cy="640080"/>
          </a:xfrm>
          <a:prstGeom prst="rect">
            <a:avLst/>
          </a:prstGeom>
          <a:solidFill>
            <a:srgbClr val="F59E0B"/>
          </a:solidFill>
          <a:ln/>
        </p:spPr>
      </p:sp>
      <p:sp>
        <p:nvSpPr>
          <p:cNvPr id="19" name="Text 16"/>
          <p:cNvSpPr/>
          <p:nvPr/>
        </p:nvSpPr>
        <p:spPr>
          <a:xfrm>
            <a:off x="1005840" y="4069080"/>
            <a:ext cx="2011680" cy="64008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Qualitative Feedback</a:t>
            </a:r>
            <a:endParaRPr lang="en-US" sz="1300" dirty="0"/>
          </a:p>
        </p:txBody>
      </p:sp>
      <p:sp>
        <p:nvSpPr>
          <p:cNvPr id="20" name="Text 17"/>
          <p:cNvSpPr/>
          <p:nvPr/>
        </p:nvSpPr>
        <p:spPr>
          <a:xfrm>
            <a:off x="3017520" y="4069080"/>
            <a:ext cx="5212080" cy="6400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Open-ended responses on what works, what's confusing, and what to improve</a:t>
            </a:r>
            <a:endParaRPr lang="en-US" sz="1200" dirty="0"/>
          </a:p>
        </p:txBody>
      </p:sp>
      <p:sp>
        <p:nvSpPr>
          <p:cNvPr id="21" name="Text 18"/>
          <p:cNvSpPr/>
          <p:nvPr/>
        </p:nvSpPr>
        <p:spPr>
          <a:xfrm>
            <a:off x="640080" y="4572000"/>
            <a:ext cx="7863840" cy="36576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These metrics align with our core objective: build a query designer that's measurably easier to use than the current version.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640080" y="365760"/>
            <a:ext cx="7315200" cy="548640"/>
          </a:xfrm>
          <a:prstGeom prst="rect">
            <a:avLst/>
          </a:prstGeom>
          <a:noFill/>
          <a:ln/>
        </p:spPr>
        <p:txBody>
          <a:bodyPr wrap="square" lIns="0" tIns="0" rIns="0" bIns="0"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User Testing Framework</a:t>
            </a:r>
            <a:endParaRPr lang="en-US" sz="2800" dirty="0"/>
          </a:p>
        </p:txBody>
      </p:sp>
      <p:pic>
        <p:nvPicPr>
          <p:cNvPr id="3" name="Image 0" descr="preencoded.png">    </p:cNvPr>
          <p:cNvPicPr>
            <a:picLocks noChangeAspect="1"/>
          </p:cNvPicPr>
          <p:nvPr/>
        </p:nvPicPr>
        <p:blipFill>
          <a:blip r:embed="rId1"/>
          <a:stretch>
            <a:fillRect/>
          </a:stretch>
        </p:blipFill>
        <p:spPr>
          <a:xfrm>
            <a:off x="640080" y="1005840"/>
            <a:ext cx="411480" cy="411480"/>
          </a:xfrm>
          <a:prstGeom prst="rect">
            <a:avLst/>
          </a:prstGeom>
        </p:spPr>
      </p:pic>
      <p:sp>
        <p:nvSpPr>
          <p:cNvPr id="4" name="Text 1"/>
          <p:cNvSpPr/>
          <p:nvPr/>
        </p:nvSpPr>
        <p:spPr>
          <a:xfrm>
            <a:off x="1188720" y="1005840"/>
            <a:ext cx="6858000" cy="4114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Built a structured survey app to evaluate the new Query Designer with real users</a:t>
            </a:r>
            <a:endParaRPr lang="en-US" sz="1300" dirty="0"/>
          </a:p>
        </p:txBody>
      </p:sp>
      <p:sp>
        <p:nvSpPr>
          <p:cNvPr id="5" name="Shape 2"/>
          <p:cNvSpPr/>
          <p:nvPr/>
        </p:nvSpPr>
        <p:spPr>
          <a:xfrm>
            <a:off x="640080" y="1645920"/>
            <a:ext cx="4572000" cy="292608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6" name="Text 3"/>
          <p:cNvSpPr/>
          <p:nvPr/>
        </p:nvSpPr>
        <p:spPr>
          <a:xfrm>
            <a:off x="640080" y="1737360"/>
            <a:ext cx="4572000" cy="32004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10 Survey Sections</a:t>
            </a:r>
            <a:endParaRPr lang="en-US" sz="1400" dirty="0"/>
          </a:p>
        </p:txBody>
      </p:sp>
      <p:sp>
        <p:nvSpPr>
          <p:cNvPr id="7" name="Shape 4"/>
          <p:cNvSpPr/>
          <p:nvPr/>
        </p:nvSpPr>
        <p:spPr>
          <a:xfrm>
            <a:off x="914400" y="2267712"/>
            <a:ext cx="164592" cy="164592"/>
          </a:xfrm>
          <a:prstGeom prst="ellipse">
            <a:avLst/>
          </a:prstGeom>
          <a:solidFill>
            <a:srgbClr val="3B82F6"/>
          </a:solidFill>
          <a:ln/>
        </p:spPr>
      </p:sp>
      <p:sp>
        <p:nvSpPr>
          <p:cNvPr id="8" name="Text 5"/>
          <p:cNvSpPr/>
          <p:nvPr/>
        </p:nvSpPr>
        <p:spPr>
          <a:xfrm>
            <a:off x="1188720" y="2194560"/>
            <a:ext cx="173736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Standard Query Tasks</a:t>
            </a:r>
            <a:endParaRPr lang="en-US" sz="1100" dirty="0"/>
          </a:p>
        </p:txBody>
      </p:sp>
      <p:sp>
        <p:nvSpPr>
          <p:cNvPr id="9" name="Shape 6"/>
          <p:cNvSpPr/>
          <p:nvPr/>
        </p:nvSpPr>
        <p:spPr>
          <a:xfrm>
            <a:off x="3017520" y="2267712"/>
            <a:ext cx="164592" cy="164592"/>
          </a:xfrm>
          <a:prstGeom prst="ellipse">
            <a:avLst/>
          </a:prstGeom>
          <a:solidFill>
            <a:srgbClr val="3B82F6"/>
          </a:solidFill>
          <a:ln/>
        </p:spPr>
      </p:sp>
      <p:sp>
        <p:nvSpPr>
          <p:cNvPr id="10" name="Text 7"/>
          <p:cNvSpPr/>
          <p:nvPr/>
        </p:nvSpPr>
        <p:spPr>
          <a:xfrm>
            <a:off x="3291840" y="2194560"/>
            <a:ext cx="173736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Natural Language Query</a:t>
            </a:r>
            <a:endParaRPr lang="en-US" sz="1100" dirty="0"/>
          </a:p>
        </p:txBody>
      </p:sp>
      <p:sp>
        <p:nvSpPr>
          <p:cNvPr id="11" name="Shape 8"/>
          <p:cNvSpPr/>
          <p:nvPr/>
        </p:nvSpPr>
        <p:spPr>
          <a:xfrm>
            <a:off x="914400" y="2816352"/>
            <a:ext cx="164592" cy="164592"/>
          </a:xfrm>
          <a:prstGeom prst="ellipse">
            <a:avLst/>
          </a:prstGeom>
          <a:solidFill>
            <a:srgbClr val="3B82F6"/>
          </a:solidFill>
          <a:ln/>
        </p:spPr>
      </p:sp>
      <p:sp>
        <p:nvSpPr>
          <p:cNvPr id="12" name="Text 9"/>
          <p:cNvSpPr/>
          <p:nvPr/>
        </p:nvSpPr>
        <p:spPr>
          <a:xfrm>
            <a:off x="1188720" y="2743200"/>
            <a:ext cx="173736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Sub-selects</a:t>
            </a:r>
            <a:endParaRPr lang="en-US" sz="1100" dirty="0"/>
          </a:p>
        </p:txBody>
      </p:sp>
      <p:sp>
        <p:nvSpPr>
          <p:cNvPr id="13" name="Shape 10"/>
          <p:cNvSpPr/>
          <p:nvPr/>
        </p:nvSpPr>
        <p:spPr>
          <a:xfrm>
            <a:off x="3017520" y="2816352"/>
            <a:ext cx="164592" cy="164592"/>
          </a:xfrm>
          <a:prstGeom prst="ellipse">
            <a:avLst/>
          </a:prstGeom>
          <a:solidFill>
            <a:srgbClr val="3B82F6"/>
          </a:solidFill>
          <a:ln/>
        </p:spPr>
      </p:sp>
      <p:sp>
        <p:nvSpPr>
          <p:cNvPr id="14" name="Text 11"/>
          <p:cNvSpPr/>
          <p:nvPr/>
        </p:nvSpPr>
        <p:spPr>
          <a:xfrm>
            <a:off x="3291840" y="2743200"/>
            <a:ext cx="173736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Joins</a:t>
            </a:r>
            <a:endParaRPr lang="en-US" sz="1100" dirty="0"/>
          </a:p>
        </p:txBody>
      </p:sp>
      <p:sp>
        <p:nvSpPr>
          <p:cNvPr id="15" name="Shape 12"/>
          <p:cNvSpPr/>
          <p:nvPr/>
        </p:nvSpPr>
        <p:spPr>
          <a:xfrm>
            <a:off x="914400" y="3364992"/>
            <a:ext cx="164592" cy="164592"/>
          </a:xfrm>
          <a:prstGeom prst="ellipse">
            <a:avLst/>
          </a:prstGeom>
          <a:solidFill>
            <a:srgbClr val="3B82F6"/>
          </a:solidFill>
          <a:ln/>
        </p:spPr>
      </p:sp>
      <p:sp>
        <p:nvSpPr>
          <p:cNvPr id="16" name="Text 13"/>
          <p:cNvSpPr/>
          <p:nvPr/>
        </p:nvSpPr>
        <p:spPr>
          <a:xfrm>
            <a:off x="1188720" y="3291840"/>
            <a:ext cx="173736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Sort / Filter / Limit</a:t>
            </a:r>
            <a:endParaRPr lang="en-US" sz="1100" dirty="0"/>
          </a:p>
        </p:txBody>
      </p:sp>
      <p:sp>
        <p:nvSpPr>
          <p:cNvPr id="17" name="Shape 14"/>
          <p:cNvSpPr/>
          <p:nvPr/>
        </p:nvSpPr>
        <p:spPr>
          <a:xfrm>
            <a:off x="3017520" y="3364992"/>
            <a:ext cx="164592" cy="164592"/>
          </a:xfrm>
          <a:prstGeom prst="ellipse">
            <a:avLst/>
          </a:prstGeom>
          <a:solidFill>
            <a:srgbClr val="3B82F6"/>
          </a:solidFill>
          <a:ln/>
        </p:spPr>
      </p:sp>
      <p:sp>
        <p:nvSpPr>
          <p:cNvPr id="18" name="Text 15"/>
          <p:cNvSpPr/>
          <p:nvPr/>
        </p:nvSpPr>
        <p:spPr>
          <a:xfrm>
            <a:off x="3291840" y="3291840"/>
            <a:ext cx="173736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Save &amp; Export</a:t>
            </a:r>
            <a:endParaRPr lang="en-US" sz="1100" dirty="0"/>
          </a:p>
        </p:txBody>
      </p:sp>
      <p:sp>
        <p:nvSpPr>
          <p:cNvPr id="19" name="Shape 16"/>
          <p:cNvSpPr/>
          <p:nvPr/>
        </p:nvSpPr>
        <p:spPr>
          <a:xfrm>
            <a:off x="914400" y="3913632"/>
            <a:ext cx="164592" cy="164592"/>
          </a:xfrm>
          <a:prstGeom prst="ellipse">
            <a:avLst/>
          </a:prstGeom>
          <a:solidFill>
            <a:srgbClr val="3B82F6"/>
          </a:solidFill>
          <a:ln/>
        </p:spPr>
      </p:sp>
      <p:sp>
        <p:nvSpPr>
          <p:cNvPr id="20" name="Text 17"/>
          <p:cNvSpPr/>
          <p:nvPr/>
        </p:nvSpPr>
        <p:spPr>
          <a:xfrm>
            <a:off x="1188720" y="3840480"/>
            <a:ext cx="173736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Comparison with Old QD</a:t>
            </a:r>
            <a:endParaRPr lang="en-US" sz="1100" dirty="0"/>
          </a:p>
        </p:txBody>
      </p:sp>
      <p:sp>
        <p:nvSpPr>
          <p:cNvPr id="21" name="Shape 18"/>
          <p:cNvSpPr/>
          <p:nvPr/>
        </p:nvSpPr>
        <p:spPr>
          <a:xfrm>
            <a:off x="3017520" y="3913632"/>
            <a:ext cx="164592" cy="164592"/>
          </a:xfrm>
          <a:prstGeom prst="ellipse">
            <a:avLst/>
          </a:prstGeom>
          <a:solidFill>
            <a:srgbClr val="3B82F6"/>
          </a:solidFill>
          <a:ln/>
        </p:spPr>
      </p:sp>
      <p:sp>
        <p:nvSpPr>
          <p:cNvPr id="22" name="Text 19"/>
          <p:cNvSpPr/>
          <p:nvPr/>
        </p:nvSpPr>
        <p:spPr>
          <a:xfrm>
            <a:off x="3291840" y="3840480"/>
            <a:ext cx="173736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Open-Ended Feedback</a:t>
            </a:r>
            <a:endParaRPr lang="en-US" sz="1100" dirty="0"/>
          </a:p>
        </p:txBody>
      </p:sp>
      <p:sp>
        <p:nvSpPr>
          <p:cNvPr id="23" name="Shape 20"/>
          <p:cNvSpPr/>
          <p:nvPr/>
        </p:nvSpPr>
        <p:spPr>
          <a:xfrm>
            <a:off x="5394960" y="1645920"/>
            <a:ext cx="3108960" cy="292608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24" name="Text 21"/>
          <p:cNvSpPr/>
          <p:nvPr/>
        </p:nvSpPr>
        <p:spPr>
          <a:xfrm>
            <a:off x="5394960" y="1737360"/>
            <a:ext cx="3108960" cy="32004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How It Works</a:t>
            </a:r>
            <a:endParaRPr lang="en-US" sz="1400" dirty="0"/>
          </a:p>
        </p:txBody>
      </p:sp>
      <p:sp>
        <p:nvSpPr>
          <p:cNvPr id="25" name="Text 22"/>
          <p:cNvSpPr/>
          <p:nvPr/>
        </p:nvSpPr>
        <p:spPr>
          <a:xfrm>
            <a:off x="5669280" y="2194560"/>
            <a:ext cx="2560320" cy="2194560"/>
          </a:xfrm>
          <a:prstGeom prst="rect">
            <a:avLst/>
          </a:prstGeom>
          <a:noFill/>
          <a:ln/>
        </p:spPr>
        <p:txBody>
          <a:bodyPr wrap="square" rtlCol="0" anchor="t"/>
          <a:lstStyle/>
          <a:p>
            <a:pPr marL="342900" indent="-342900">
              <a:buSzPct val="100000"/>
              <a:buChar char="•"/>
            </a:pPr>
            <a:r>
              <a:rPr lang="en-US" sz="1200" dirty="0">
                <a:solidFill>
                  <a:srgbClr val="475569"/>
                </a:solidFill>
              </a:rPr>
              <a:t>Step-by-step task instructions</a:t>
            </a:r>
            <a:endParaRPr lang="en-US" sz="1200" dirty="0"/>
          </a:p>
          <a:p>
            <a:pPr marL="342900" indent="-342900">
              <a:buSzPct val="100000"/>
              <a:buChar char="•"/>
            </a:pPr>
            <a:r>
              <a:rPr lang="en-US" sz="1200" dirty="0">
                <a:solidFill>
                  <a:srgbClr val="475569"/>
                </a:solidFill>
              </a:rPr>
              <a:t>Likert scale ratings (1-5)</a:t>
            </a:r>
            <a:endParaRPr lang="en-US" sz="1200" dirty="0"/>
          </a:p>
          <a:p>
            <a:pPr marL="342900" indent="-342900">
              <a:buSzPct val="100000"/>
              <a:buChar char="•"/>
            </a:pPr>
            <a:r>
              <a:rPr lang="en-US" sz="1200" dirty="0">
                <a:solidFill>
                  <a:srgbClr val="475569"/>
                </a:solidFill>
              </a:rPr>
              <a:t>Open-ended text feedback</a:t>
            </a:r>
            <a:endParaRPr lang="en-US" sz="1200" dirty="0"/>
          </a:p>
          <a:p>
            <a:pPr marL="342900" indent="-342900">
              <a:buSzPct val="100000"/>
              <a:buChar char="•"/>
            </a:pPr>
            <a:r>
              <a:rPr lang="en-US" sz="1200" dirty="0">
                <a:solidFill>
                  <a:srgbClr val="475569"/>
                </a:solidFill>
              </a:rPr>
              <a:t>Old vs. new comparison</a:t>
            </a:r>
            <a:endParaRPr lang="en-US" sz="1200" dirty="0"/>
          </a:p>
          <a:p>
            <a:pPr indent="0" marL="0">
              <a:buNone/>
            </a:pPr>
            <a:endParaRPr lang="en-US" sz="1200" dirty="0"/>
          </a:p>
          <a:p>
            <a:pPr indent="0" marL="0">
              <a:buNone/>
            </a:pPr>
            <a:r>
              <a:rPr lang="en-US" sz="1200" b="1" dirty="0">
                <a:solidFill>
                  <a:srgbClr val="1B2A4A"/>
                </a:solidFill>
              </a:rPr>
              <a:t>Results stored in database</a:t>
            </a:r>
            <a:endParaRPr lang="en-US" sz="1200" dirty="0"/>
          </a:p>
          <a:p>
            <a:pPr indent="0" marL="0">
              <a:buNone/>
            </a:pPr>
            <a:r>
              <a:rPr lang="en-US" sz="1200" b="1" dirty="0">
                <a:solidFill>
                  <a:srgbClr val="1B2A4A"/>
                </a:solidFill>
              </a:rPr>
              <a:t>Admin dashboard for analysis</a:t>
            </a:r>
            <a:endParaRPr lang="en-US" sz="1200" dirty="0"/>
          </a:p>
          <a:p>
            <a:pPr indent="0" marL="0">
              <a:buNone/>
            </a:pPr>
            <a:r>
              <a:rPr lang="en-US" sz="1200" b="1" dirty="0">
                <a:solidFill>
                  <a:srgbClr val="1B2A4A"/>
                </a:solidFill>
              </a:rPr>
              <a:t>CSV export for reporting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548640"/>
          </a:xfrm>
          <a:prstGeom prst="rect">
            <a:avLst/>
          </a:prstGeom>
          <a:noFill/>
          <a:ln/>
        </p:spPr>
        <p:txBody>
          <a:bodyPr wrap="square" lIns="0" tIns="0" rIns="0" bIns="0"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Software, Tools &amp; Collaboration</a:t>
            </a:r>
            <a:endParaRPr lang="en-US" sz="2800" dirty="0"/>
          </a:p>
        </p:txBody>
      </p:sp>
      <p:sp>
        <p:nvSpPr>
          <p:cNvPr id="3" name="Shape 1"/>
          <p:cNvSpPr/>
          <p:nvPr/>
        </p:nvSpPr>
        <p:spPr>
          <a:xfrm>
            <a:off x="640080" y="1097280"/>
            <a:ext cx="3840480" cy="3474720"/>
          </a:xfrm>
          <a:prstGeom prst="rect">
            <a:avLst/>
          </a:prstGeom>
          <a:solidFill>
            <a:srgbClr val="F1F5F9"/>
          </a:solidFill>
          <a:ln/>
          <a:effectLst>
            <a:outerShdw sx="100000" sy="100000" kx="0" ky="0" algn="bl" rotWithShape="0" blurRad="101600" dist="25400" dir="8100000">
              <a:srgbClr val="000000">
                <a:alpha val="10000"/>
              </a:srgbClr>
            </a:outerShdw>
          </a:effectLst>
        </p:spPr>
      </p:sp>
      <p:pic>
        <p:nvPicPr>
          <p:cNvPr id="4" name="Image 0" descr="preencoded.png">    </p:cNvPr>
          <p:cNvPicPr>
            <a:picLocks noChangeAspect="1"/>
          </p:cNvPicPr>
          <p:nvPr/>
        </p:nvPicPr>
        <p:blipFill>
          <a:blip r:embed="rId1"/>
          <a:stretch>
            <a:fillRect/>
          </a:stretch>
        </p:blipFill>
        <p:spPr>
          <a:xfrm>
            <a:off x="914400" y="1280160"/>
            <a:ext cx="365760" cy="365760"/>
          </a:xfrm>
          <a:prstGeom prst="rect">
            <a:avLst/>
          </a:prstGeom>
        </p:spPr>
      </p:pic>
      <p:sp>
        <p:nvSpPr>
          <p:cNvPr id="5" name="Text 2"/>
          <p:cNvSpPr/>
          <p:nvPr/>
        </p:nvSpPr>
        <p:spPr>
          <a:xfrm>
            <a:off x="1371600" y="1280160"/>
            <a:ext cx="2743200" cy="36576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Tech Stack</a:t>
            </a:r>
            <a:endParaRPr lang="en-US" sz="1600" dirty="0"/>
          </a:p>
        </p:txBody>
      </p:sp>
      <p:sp>
        <p:nvSpPr>
          <p:cNvPr id="6" name="Text 3"/>
          <p:cNvSpPr/>
          <p:nvPr/>
        </p:nvSpPr>
        <p:spPr>
          <a:xfrm>
            <a:off x="914400" y="1783080"/>
            <a:ext cx="1645920" cy="36576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React 19</a:t>
            </a:r>
            <a:endParaRPr lang="en-US" sz="1200" dirty="0"/>
          </a:p>
        </p:txBody>
      </p:sp>
      <p:sp>
        <p:nvSpPr>
          <p:cNvPr id="7" name="Text 4"/>
          <p:cNvSpPr/>
          <p:nvPr/>
        </p:nvSpPr>
        <p:spPr>
          <a:xfrm>
            <a:off x="2651760" y="1783080"/>
            <a:ext cx="164592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UI framework</a:t>
            </a:r>
            <a:endParaRPr lang="en-US" sz="1200" dirty="0"/>
          </a:p>
        </p:txBody>
      </p:sp>
      <p:sp>
        <p:nvSpPr>
          <p:cNvPr id="8" name="Text 5"/>
          <p:cNvSpPr/>
          <p:nvPr/>
        </p:nvSpPr>
        <p:spPr>
          <a:xfrm>
            <a:off x="914400" y="2240280"/>
            <a:ext cx="1645920" cy="36576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TypeScript</a:t>
            </a:r>
            <a:endParaRPr lang="en-US" sz="1200" dirty="0"/>
          </a:p>
        </p:txBody>
      </p:sp>
      <p:sp>
        <p:nvSpPr>
          <p:cNvPr id="9" name="Text 6"/>
          <p:cNvSpPr/>
          <p:nvPr/>
        </p:nvSpPr>
        <p:spPr>
          <a:xfrm>
            <a:off x="2651760" y="2240280"/>
            <a:ext cx="164592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Type safety</a:t>
            </a:r>
            <a:endParaRPr lang="en-US" sz="1200" dirty="0"/>
          </a:p>
        </p:txBody>
      </p:sp>
      <p:sp>
        <p:nvSpPr>
          <p:cNvPr id="10" name="Text 7"/>
          <p:cNvSpPr/>
          <p:nvPr/>
        </p:nvSpPr>
        <p:spPr>
          <a:xfrm>
            <a:off x="914400" y="2697480"/>
            <a:ext cx="1645920" cy="36576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Vite 7</a:t>
            </a:r>
            <a:endParaRPr lang="en-US" sz="1200" dirty="0"/>
          </a:p>
        </p:txBody>
      </p:sp>
      <p:sp>
        <p:nvSpPr>
          <p:cNvPr id="11" name="Text 8"/>
          <p:cNvSpPr/>
          <p:nvPr/>
        </p:nvSpPr>
        <p:spPr>
          <a:xfrm>
            <a:off x="2651760" y="2697480"/>
            <a:ext cx="164592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Build tool</a:t>
            </a:r>
            <a:endParaRPr lang="en-US" sz="1200" dirty="0"/>
          </a:p>
        </p:txBody>
      </p:sp>
      <p:sp>
        <p:nvSpPr>
          <p:cNvPr id="12" name="Text 9"/>
          <p:cNvSpPr/>
          <p:nvPr/>
        </p:nvSpPr>
        <p:spPr>
          <a:xfrm>
            <a:off x="914400" y="3154680"/>
            <a:ext cx="1645920" cy="36576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Tailwind CSS v4</a:t>
            </a:r>
            <a:endParaRPr lang="en-US" sz="1200" dirty="0"/>
          </a:p>
        </p:txBody>
      </p:sp>
      <p:sp>
        <p:nvSpPr>
          <p:cNvPr id="13" name="Text 10"/>
          <p:cNvSpPr/>
          <p:nvPr/>
        </p:nvSpPr>
        <p:spPr>
          <a:xfrm>
            <a:off x="2651760" y="3154680"/>
            <a:ext cx="164592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Styling</a:t>
            </a:r>
            <a:endParaRPr lang="en-US" sz="1200" dirty="0"/>
          </a:p>
        </p:txBody>
      </p:sp>
      <p:sp>
        <p:nvSpPr>
          <p:cNvPr id="14" name="Text 11"/>
          <p:cNvSpPr/>
          <p:nvPr/>
        </p:nvSpPr>
        <p:spPr>
          <a:xfrm>
            <a:off x="914400" y="3611880"/>
            <a:ext cx="1645920" cy="36576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Radix UI</a:t>
            </a:r>
            <a:endParaRPr lang="en-US" sz="1200" dirty="0"/>
          </a:p>
        </p:txBody>
      </p:sp>
      <p:sp>
        <p:nvSpPr>
          <p:cNvPr id="15" name="Text 12"/>
          <p:cNvSpPr/>
          <p:nvPr/>
        </p:nvSpPr>
        <p:spPr>
          <a:xfrm>
            <a:off x="2651760" y="3611880"/>
            <a:ext cx="164592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Accessible components</a:t>
            </a:r>
            <a:endParaRPr lang="en-US" sz="1200" dirty="0"/>
          </a:p>
        </p:txBody>
      </p:sp>
      <p:sp>
        <p:nvSpPr>
          <p:cNvPr id="16" name="Text 13"/>
          <p:cNvSpPr/>
          <p:nvPr/>
        </p:nvSpPr>
        <p:spPr>
          <a:xfrm>
            <a:off x="914400" y="4069080"/>
            <a:ext cx="1645920" cy="36576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SQLite / PostgreSQL</a:t>
            </a:r>
            <a:endParaRPr lang="en-US" sz="1200" dirty="0"/>
          </a:p>
        </p:txBody>
      </p:sp>
      <p:sp>
        <p:nvSpPr>
          <p:cNvPr id="17" name="Text 14"/>
          <p:cNvSpPr/>
          <p:nvPr/>
        </p:nvSpPr>
        <p:spPr>
          <a:xfrm>
            <a:off x="2651760" y="4069080"/>
            <a:ext cx="164592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Data persistence</a:t>
            </a:r>
            <a:endParaRPr lang="en-US" sz="1200" dirty="0"/>
          </a:p>
        </p:txBody>
      </p:sp>
      <p:sp>
        <p:nvSpPr>
          <p:cNvPr id="18" name="Text 15"/>
          <p:cNvSpPr/>
          <p:nvPr/>
        </p:nvSpPr>
        <p:spPr>
          <a:xfrm>
            <a:off x="914400" y="4023360"/>
            <a:ext cx="3291840" cy="411480"/>
          </a:xfrm>
          <a:prstGeom prst="rect">
            <a:avLst/>
          </a:prstGeom>
          <a:noFill/>
          <a:ln/>
        </p:spPr>
        <p:txBody>
          <a:bodyPr wrap="square"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Informer has their own SSR system comparable to Next.js — you slot in React on the client and write server route handlers in JavaScript.</a:t>
            </a:r>
            <a:endParaRPr lang="en-US" sz="1000" dirty="0"/>
          </a:p>
        </p:txBody>
      </p:sp>
      <p:sp>
        <p:nvSpPr>
          <p:cNvPr id="19" name="Shape 16"/>
          <p:cNvSpPr/>
          <p:nvPr/>
        </p:nvSpPr>
        <p:spPr>
          <a:xfrm>
            <a:off x="4663440" y="1097280"/>
            <a:ext cx="3840480" cy="3474720"/>
          </a:xfrm>
          <a:prstGeom prst="rect">
            <a:avLst/>
          </a:prstGeom>
          <a:solidFill>
            <a:srgbClr val="F1F5F9"/>
          </a:solidFill>
          <a:ln/>
          <a:effectLst>
            <a:outerShdw sx="100000" sy="100000" kx="0" ky="0" algn="bl" rotWithShape="0" blurRad="101600" dist="25400" dir="8100000">
              <a:srgbClr val="000000">
                <a:alpha val="10000"/>
              </a:srgbClr>
            </a:outerShdw>
          </a:effectLst>
        </p:spPr>
      </p:sp>
      <p:pic>
        <p:nvPicPr>
          <p:cNvPr id="20" name="Image 1" descr="preencoded.png">    </p:cNvPr>
          <p:cNvPicPr>
            <a:picLocks noChangeAspect="1"/>
          </p:cNvPicPr>
          <p:nvPr/>
        </p:nvPicPr>
        <p:blipFill>
          <a:blip r:embed="rId2"/>
          <a:stretch>
            <a:fillRect/>
          </a:stretch>
        </p:blipFill>
        <p:spPr>
          <a:xfrm>
            <a:off x="4937760" y="1280160"/>
            <a:ext cx="365760" cy="365760"/>
          </a:xfrm>
          <a:prstGeom prst="rect">
            <a:avLst/>
          </a:prstGeom>
        </p:spPr>
      </p:pic>
      <p:sp>
        <p:nvSpPr>
          <p:cNvPr id="21" name="Text 17"/>
          <p:cNvSpPr/>
          <p:nvPr/>
        </p:nvSpPr>
        <p:spPr>
          <a:xfrm>
            <a:off x="5394960" y="1280160"/>
            <a:ext cx="2743200" cy="36576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Team &amp; Communication</a:t>
            </a:r>
            <a:endParaRPr lang="en-US" sz="1600" dirty="0"/>
          </a:p>
        </p:txBody>
      </p:sp>
      <p:sp>
        <p:nvSpPr>
          <p:cNvPr id="22" name="Text 18"/>
          <p:cNvSpPr/>
          <p:nvPr/>
        </p:nvSpPr>
        <p:spPr>
          <a:xfrm>
            <a:off x="4937760" y="1828800"/>
            <a:ext cx="3291840" cy="2286000"/>
          </a:xfrm>
          <a:prstGeom prst="rect">
            <a:avLst/>
          </a:prstGeom>
          <a:noFill/>
          <a:ln/>
        </p:spPr>
        <p:txBody>
          <a:bodyPr wrap="square" rtlCol="0" anchor="t"/>
          <a:lstStyle/>
          <a:p>
            <a:pPr marL="342900" indent="-342900">
              <a:buSzPct val="100000"/>
              <a:buChar char="•"/>
            </a:pPr>
            <a:r>
              <a:rPr lang="en-US" sz="1200" dirty="0">
                <a:solidFill>
                  <a:srgbClr val="475569"/>
                </a:solidFill>
              </a:rPr>
              <a:t>Sponsor: Entrinsik</a:t>
            </a:r>
            <a:endParaRPr lang="en-US" sz="1200" dirty="0"/>
          </a:p>
          <a:p>
            <a:pPr marL="342900" indent="-342900">
              <a:buSzPct val="100000"/>
              <a:buChar char="•"/>
            </a:pPr>
            <a:r>
              <a:rPr lang="en-US" sz="1200" dirty="0">
                <a:solidFill>
                  <a:srgbClr val="475569"/>
                </a:solidFill>
              </a:rPr>
              <a:t>Contact: Jacob Friend</a:t>
            </a:r>
            <a:endParaRPr lang="en-US" sz="1200" dirty="0"/>
          </a:p>
          <a:p>
            <a:pPr lvl="1" indent="0" marL="0">
              <a:buNone/>
            </a:pPr>
            <a:r>
              <a:rPr lang="en-US" sz="1100" dirty="0">
                <a:solidFill>
                  <a:srgbClr val="94A3B8"/>
                </a:solidFill>
              </a:rPr>
              <a:t>(Engineering at Entrinsik)</a:t>
            </a:r>
            <a:endParaRPr lang="en-US" sz="1200" dirty="0"/>
          </a:p>
          <a:p>
            <a:pPr indent="0" marL="0">
              <a:buNone/>
            </a:pPr>
            <a:endParaRPr lang="en-US" sz="1200" dirty="0"/>
          </a:p>
          <a:p>
            <a:pPr marL="342900" indent="-342900">
              <a:buSzPct val="100000"/>
              <a:buChar char="•"/>
            </a:pPr>
            <a:r>
              <a:rPr lang="en-US" sz="1200" dirty="0">
                <a:solidFill>
                  <a:srgbClr val="475569"/>
                </a:solidFill>
              </a:rPr>
              <a:t>Discord for daily communication</a:t>
            </a:r>
            <a:endParaRPr lang="en-US" sz="1200" dirty="0"/>
          </a:p>
          <a:p>
            <a:pPr marL="342900" indent="-342900">
              <a:buSzPct val="100000"/>
              <a:buChar char="•"/>
            </a:pPr>
            <a:r>
              <a:rPr lang="en-US" sz="1200" dirty="0">
                <a:solidFill>
                  <a:srgbClr val="475569"/>
                </a:solidFill>
              </a:rPr>
              <a:t>Email for formal updates</a:t>
            </a:r>
            <a:endParaRPr lang="en-US" sz="1200" dirty="0"/>
          </a:p>
          <a:p>
            <a:pPr marL="342900" indent="-342900">
              <a:buSzPct val="100000"/>
              <a:buChar char="•"/>
            </a:pPr>
            <a:r>
              <a:rPr lang="en-US" sz="1200" dirty="0">
                <a:solidFill>
                  <a:srgbClr val="475569"/>
                </a:solidFill>
              </a:rPr>
              <a:t>Zoom for design reviews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640080" y="365760"/>
            <a:ext cx="7315200" cy="548640"/>
          </a:xfrm>
          <a:prstGeom prst="rect">
            <a:avLst/>
          </a:prstGeom>
          <a:noFill/>
          <a:ln/>
        </p:spPr>
        <p:txBody>
          <a:bodyPr wrap="square" lIns="0" tIns="0" rIns="0" bIns="0"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Timeline &amp; Next Steps</a:t>
            </a:r>
            <a:endParaRPr lang="en-US" sz="2800" dirty="0"/>
          </a:p>
        </p:txBody>
      </p:sp>
      <p:sp>
        <p:nvSpPr>
          <p:cNvPr id="3" name="Shape 1"/>
          <p:cNvSpPr/>
          <p:nvPr/>
        </p:nvSpPr>
        <p:spPr>
          <a:xfrm>
            <a:off x="914400" y="1280160"/>
            <a:ext cx="7315200" cy="54864"/>
          </a:xfrm>
          <a:prstGeom prst="rect">
            <a:avLst/>
          </a:prstGeom>
          <a:solidFill>
            <a:srgbClr val="CBD5E1"/>
          </a:solidFill>
          <a:ln/>
        </p:spPr>
      </p:sp>
      <p:sp>
        <p:nvSpPr>
          <p:cNvPr id="4" name="Shape 2"/>
          <p:cNvSpPr/>
          <p:nvPr/>
        </p:nvSpPr>
        <p:spPr>
          <a:xfrm>
            <a:off x="1005840" y="1161288"/>
            <a:ext cx="274320" cy="274320"/>
          </a:xfrm>
          <a:prstGeom prst="ellipse">
            <a:avLst/>
          </a:prstGeom>
          <a:solidFill>
            <a:srgbClr val="3B82F6"/>
          </a:solidFill>
          <a:ln/>
        </p:spPr>
      </p:sp>
      <p:sp>
        <p:nvSpPr>
          <p:cNvPr id="5" name="Text 3"/>
          <p:cNvSpPr/>
          <p:nvPr/>
        </p:nvSpPr>
        <p:spPr>
          <a:xfrm>
            <a:off x="594360" y="1554480"/>
            <a:ext cx="1097280" cy="640080"/>
          </a:xfrm>
          <a:prstGeom prst="rect">
            <a:avLst/>
          </a:prstGeom>
          <a:noFill/>
          <a:ln/>
        </p:spPr>
        <p:txBody>
          <a:bodyPr wrap="square" rtlCol="0" anchor="t"/>
          <a:lstStyle/>
          <a:p>
            <a:pPr algn="ctr" indent="0" marL="0">
              <a:buNone/>
            </a:pPr>
            <a:r>
              <a:rPr lang="en-US" sz="1000" b="1" dirty="0">
                <a:solidFill>
                  <a:srgbClr val="1B2A4A"/>
                </a:solidFill>
                <a:latin typeface="Calibri" pitchFamily="34" charset="0"/>
                <a:ea typeface="Calibri" pitchFamily="34" charset="-122"/>
                <a:cs typeface="Calibri" pitchFamily="34" charset="-120"/>
              </a:rPr>
              <a:t>Chatbot</a:t>
            </a:r>
            <a:endParaRPr lang="en-US" sz="1000" dirty="0"/>
          </a:p>
          <a:p>
            <a:pPr algn="ctr" indent="0" marL="0">
              <a:buNone/>
            </a:pPr>
            <a:r>
              <a:rPr lang="en-US" sz="1000" b="1" dirty="0">
                <a:solidFill>
                  <a:srgbClr val="1B2A4A"/>
                </a:solidFill>
                <a:latin typeface="Calibri" pitchFamily="34" charset="0"/>
                <a:ea typeface="Calibri" pitchFamily="34" charset="-122"/>
                <a:cs typeface="Calibri" pitchFamily="34" charset="-120"/>
              </a:rPr>
              <a:t>Prototype</a:t>
            </a:r>
            <a:endParaRPr lang="en-US" sz="1000" dirty="0"/>
          </a:p>
        </p:txBody>
      </p:sp>
      <p:sp>
        <p:nvSpPr>
          <p:cNvPr id="6" name="Shape 4"/>
          <p:cNvSpPr/>
          <p:nvPr/>
        </p:nvSpPr>
        <p:spPr>
          <a:xfrm>
            <a:off x="2377440" y="1161288"/>
            <a:ext cx="274320" cy="274320"/>
          </a:xfrm>
          <a:prstGeom prst="ellipse">
            <a:avLst/>
          </a:prstGeom>
          <a:solidFill>
            <a:srgbClr val="3B82F6"/>
          </a:solidFill>
          <a:ln/>
        </p:spPr>
      </p:sp>
      <p:sp>
        <p:nvSpPr>
          <p:cNvPr id="7" name="Text 5"/>
          <p:cNvSpPr/>
          <p:nvPr/>
        </p:nvSpPr>
        <p:spPr>
          <a:xfrm>
            <a:off x="1965960" y="1554480"/>
            <a:ext cx="1097280" cy="640080"/>
          </a:xfrm>
          <a:prstGeom prst="rect">
            <a:avLst/>
          </a:prstGeom>
          <a:noFill/>
          <a:ln/>
        </p:spPr>
        <p:txBody>
          <a:bodyPr wrap="square" rtlCol="0" anchor="t"/>
          <a:lstStyle/>
          <a:p>
            <a:pPr algn="ctr" indent="0" marL="0">
              <a:buNone/>
            </a:pPr>
            <a:r>
              <a:rPr lang="en-US" sz="1000" b="1" dirty="0">
                <a:solidFill>
                  <a:srgbClr val="1B2A4A"/>
                </a:solidFill>
                <a:latin typeface="Calibri" pitchFamily="34" charset="0"/>
                <a:ea typeface="Calibri" pitchFamily="34" charset="-122"/>
                <a:cs typeface="Calibri" pitchFamily="34" charset="-120"/>
              </a:rPr>
              <a:t>QD Design</a:t>
            </a:r>
            <a:endParaRPr lang="en-US" sz="1000" dirty="0"/>
          </a:p>
          <a:p>
            <a:pPr algn="ctr" indent="0" marL="0">
              <a:buNone/>
            </a:pPr>
            <a:r>
              <a:rPr lang="en-US" sz="1000" b="1" dirty="0">
                <a:solidFill>
                  <a:srgbClr val="1B2A4A"/>
                </a:solidFill>
                <a:latin typeface="Calibri" pitchFamily="34" charset="0"/>
                <a:ea typeface="Calibri" pitchFamily="34" charset="-122"/>
                <a:cs typeface="Calibri" pitchFamily="34" charset="-120"/>
              </a:rPr>
              <a:t>Iteration</a:t>
            </a:r>
            <a:endParaRPr lang="en-US" sz="1000" dirty="0"/>
          </a:p>
        </p:txBody>
      </p:sp>
      <p:sp>
        <p:nvSpPr>
          <p:cNvPr id="8" name="Shape 6"/>
          <p:cNvSpPr/>
          <p:nvPr/>
        </p:nvSpPr>
        <p:spPr>
          <a:xfrm>
            <a:off x="3749040" y="1161288"/>
            <a:ext cx="274320" cy="274320"/>
          </a:xfrm>
          <a:prstGeom prst="ellipse">
            <a:avLst/>
          </a:prstGeom>
          <a:solidFill>
            <a:srgbClr val="3B82F6"/>
          </a:solidFill>
          <a:ln/>
        </p:spPr>
      </p:sp>
      <p:sp>
        <p:nvSpPr>
          <p:cNvPr id="9" name="Text 7"/>
          <p:cNvSpPr/>
          <p:nvPr/>
        </p:nvSpPr>
        <p:spPr>
          <a:xfrm>
            <a:off x="3337560" y="1554480"/>
            <a:ext cx="1097280" cy="640080"/>
          </a:xfrm>
          <a:prstGeom prst="rect">
            <a:avLst/>
          </a:prstGeom>
          <a:noFill/>
          <a:ln/>
        </p:spPr>
        <p:txBody>
          <a:bodyPr wrap="square" rtlCol="0" anchor="t"/>
          <a:lstStyle/>
          <a:p>
            <a:pPr algn="ctr" indent="0" marL="0">
              <a:buNone/>
            </a:pPr>
            <a:r>
              <a:rPr lang="en-US" sz="1000" b="1" dirty="0">
                <a:solidFill>
                  <a:srgbClr val="1B2A4A"/>
                </a:solidFill>
                <a:latin typeface="Calibri" pitchFamily="34" charset="0"/>
                <a:ea typeface="Calibri" pitchFamily="34" charset="-122"/>
                <a:cs typeface="Calibri" pitchFamily="34" charset="-120"/>
              </a:rPr>
              <a:t>Ribbon UI</a:t>
            </a:r>
            <a:endParaRPr lang="en-US" sz="1000" dirty="0"/>
          </a:p>
          <a:p>
            <a:pPr algn="ctr" indent="0" marL="0">
              <a:buNone/>
            </a:pPr>
            <a:r>
              <a:rPr lang="en-US" sz="1000" b="1" dirty="0">
                <a:solidFill>
                  <a:srgbClr val="1B2A4A"/>
                </a:solidFill>
                <a:latin typeface="Calibri" pitchFamily="34" charset="0"/>
                <a:ea typeface="Calibri" pitchFamily="34" charset="-122"/>
                <a:cs typeface="Calibri" pitchFamily="34" charset="-120"/>
              </a:rPr>
              <a:t>+ Features</a:t>
            </a:r>
            <a:endParaRPr lang="en-US" sz="1000" dirty="0"/>
          </a:p>
        </p:txBody>
      </p:sp>
      <p:sp>
        <p:nvSpPr>
          <p:cNvPr id="10" name="Shape 8"/>
          <p:cNvSpPr/>
          <p:nvPr/>
        </p:nvSpPr>
        <p:spPr>
          <a:xfrm>
            <a:off x="5120640" y="1161288"/>
            <a:ext cx="274320" cy="274320"/>
          </a:xfrm>
          <a:prstGeom prst="ellipse">
            <a:avLst/>
          </a:prstGeom>
          <a:solidFill>
            <a:srgbClr val="3B82F6"/>
          </a:solidFill>
          <a:ln/>
        </p:spPr>
      </p:sp>
      <p:sp>
        <p:nvSpPr>
          <p:cNvPr id="11" name="Text 9"/>
          <p:cNvSpPr/>
          <p:nvPr/>
        </p:nvSpPr>
        <p:spPr>
          <a:xfrm>
            <a:off x="4709160" y="1554480"/>
            <a:ext cx="1097280" cy="640080"/>
          </a:xfrm>
          <a:prstGeom prst="rect">
            <a:avLst/>
          </a:prstGeom>
          <a:noFill/>
          <a:ln/>
        </p:spPr>
        <p:txBody>
          <a:bodyPr wrap="square" rtlCol="0" anchor="t"/>
          <a:lstStyle/>
          <a:p>
            <a:pPr algn="ctr" indent="0" marL="0">
              <a:buNone/>
            </a:pPr>
            <a:r>
              <a:rPr lang="en-US" sz="1000" b="1" dirty="0">
                <a:solidFill>
                  <a:srgbClr val="1B2A4A"/>
                </a:solidFill>
                <a:latin typeface="Calibri" pitchFamily="34" charset="0"/>
                <a:ea typeface="Calibri" pitchFamily="34" charset="-122"/>
                <a:cs typeface="Calibri" pitchFamily="34" charset="-120"/>
              </a:rPr>
              <a:t>AI</a:t>
            </a:r>
            <a:endParaRPr lang="en-US" sz="1000" dirty="0"/>
          </a:p>
          <a:p>
            <a:pPr algn="ctr" indent="0" marL="0">
              <a:buNone/>
            </a:pPr>
            <a:r>
              <a:rPr lang="en-US" sz="1000" b="1" dirty="0">
                <a:solidFill>
                  <a:srgbClr val="1B2A4A"/>
                </a:solidFill>
                <a:latin typeface="Calibri" pitchFamily="34" charset="0"/>
                <a:ea typeface="Calibri" pitchFamily="34" charset="-122"/>
                <a:cs typeface="Calibri" pitchFamily="34" charset="-120"/>
              </a:rPr>
              <a:t>Integration</a:t>
            </a:r>
            <a:endParaRPr lang="en-US" sz="1000" dirty="0"/>
          </a:p>
        </p:txBody>
      </p:sp>
      <p:sp>
        <p:nvSpPr>
          <p:cNvPr id="12" name="Shape 10"/>
          <p:cNvSpPr/>
          <p:nvPr/>
        </p:nvSpPr>
        <p:spPr>
          <a:xfrm>
            <a:off x="6492240" y="1161288"/>
            <a:ext cx="274320" cy="274320"/>
          </a:xfrm>
          <a:prstGeom prst="ellipse">
            <a:avLst/>
          </a:prstGeom>
          <a:solidFill>
            <a:srgbClr val="CBD5E1"/>
          </a:solidFill>
          <a:ln/>
        </p:spPr>
      </p:sp>
      <p:sp>
        <p:nvSpPr>
          <p:cNvPr id="13" name="Text 11"/>
          <p:cNvSpPr/>
          <p:nvPr/>
        </p:nvSpPr>
        <p:spPr>
          <a:xfrm>
            <a:off x="6080760" y="1554480"/>
            <a:ext cx="1097280" cy="640080"/>
          </a:xfrm>
          <a:prstGeom prst="rect">
            <a:avLst/>
          </a:prstGeom>
          <a:noFill/>
          <a:ln/>
        </p:spPr>
        <p:txBody>
          <a:bodyPr wrap="square"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User</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Testing</a:t>
            </a:r>
            <a:endParaRPr lang="en-US" sz="1000" dirty="0"/>
          </a:p>
        </p:txBody>
      </p:sp>
      <p:sp>
        <p:nvSpPr>
          <p:cNvPr id="14" name="Shape 12"/>
          <p:cNvSpPr/>
          <p:nvPr/>
        </p:nvSpPr>
        <p:spPr>
          <a:xfrm>
            <a:off x="7863840" y="1161288"/>
            <a:ext cx="274320" cy="274320"/>
          </a:xfrm>
          <a:prstGeom prst="ellipse">
            <a:avLst/>
          </a:prstGeom>
          <a:solidFill>
            <a:srgbClr val="CBD5E1"/>
          </a:solidFill>
          <a:ln/>
        </p:spPr>
      </p:sp>
      <p:sp>
        <p:nvSpPr>
          <p:cNvPr id="15" name="Text 13"/>
          <p:cNvSpPr/>
          <p:nvPr/>
        </p:nvSpPr>
        <p:spPr>
          <a:xfrm>
            <a:off x="7452360" y="1554480"/>
            <a:ext cx="1097280" cy="640080"/>
          </a:xfrm>
          <a:prstGeom prst="rect">
            <a:avLst/>
          </a:prstGeom>
          <a:noFill/>
          <a:ln/>
        </p:spPr>
        <p:txBody>
          <a:bodyPr wrap="square"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Iterate &amp;</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Deploy</a:t>
            </a:r>
            <a:endParaRPr lang="en-US" sz="1000" dirty="0"/>
          </a:p>
        </p:txBody>
      </p:sp>
      <p:sp>
        <p:nvSpPr>
          <p:cNvPr id="16" name="Shape 14"/>
          <p:cNvSpPr/>
          <p:nvPr/>
        </p:nvSpPr>
        <p:spPr>
          <a:xfrm>
            <a:off x="640080" y="2468880"/>
            <a:ext cx="3840480" cy="21945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7" name="Text 15"/>
          <p:cNvSpPr/>
          <p:nvPr/>
        </p:nvSpPr>
        <p:spPr>
          <a:xfrm>
            <a:off x="640080" y="2560320"/>
            <a:ext cx="3840480" cy="32004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Completed</a:t>
            </a:r>
            <a:endParaRPr lang="en-US" sz="1400" dirty="0"/>
          </a:p>
        </p:txBody>
      </p:sp>
      <p:sp>
        <p:nvSpPr>
          <p:cNvPr id="18" name="Text 16"/>
          <p:cNvSpPr/>
          <p:nvPr/>
        </p:nvSpPr>
        <p:spPr>
          <a:xfrm>
            <a:off x="914400" y="2926080"/>
            <a:ext cx="3291840" cy="1554480"/>
          </a:xfrm>
          <a:prstGeom prst="rect">
            <a:avLst/>
          </a:prstGeom>
          <a:noFill/>
          <a:ln/>
        </p:spPr>
        <p:txBody>
          <a:bodyPr wrap="square" rtlCol="0" anchor="t"/>
          <a:lstStyle/>
          <a:p>
            <a:pPr marL="342900" indent="-342900">
              <a:buSzPct val="100000"/>
              <a:buChar char="•"/>
            </a:pPr>
            <a:r>
              <a:rPr lang="en-US" sz="1200" dirty="0">
                <a:solidFill>
                  <a:srgbClr val="475569"/>
                </a:solidFill>
              </a:rPr>
              <a:t>Multiple interface design iterations</a:t>
            </a:r>
            <a:endParaRPr lang="en-US" sz="1200" dirty="0"/>
          </a:p>
          <a:p>
            <a:pPr marL="342900" indent="-342900">
              <a:buSzPct val="100000"/>
              <a:buChar char="•"/>
            </a:pPr>
            <a:r>
              <a:rPr lang="en-US" sz="1200" dirty="0">
                <a:solidFill>
                  <a:srgbClr val="475569"/>
                </a:solidFill>
              </a:rPr>
              <a:t>Full ribbon UI with 6 tab groups</a:t>
            </a:r>
            <a:endParaRPr lang="en-US" sz="1200" dirty="0"/>
          </a:p>
          <a:p>
            <a:pPr marL="342900" indent="-342900">
              <a:buSzPct val="100000"/>
              <a:buChar char="•"/>
            </a:pPr>
            <a:r>
              <a:rPr lang="en-US" sz="1200" dirty="0">
                <a:solidFill>
                  <a:srgbClr val="475569"/>
                </a:solidFill>
              </a:rPr>
              <a:t>Core query building features</a:t>
            </a:r>
            <a:endParaRPr lang="en-US" sz="1200" dirty="0"/>
          </a:p>
          <a:p>
            <a:pPr marL="342900" indent="-342900">
              <a:buSzPct val="100000"/>
              <a:buChar char="•"/>
            </a:pPr>
            <a:r>
              <a:rPr lang="en-US" sz="1200" dirty="0">
                <a:solidFill>
                  <a:srgbClr val="475569"/>
                </a:solidFill>
              </a:rPr>
              <a:t>AI natural language + chat sidebar</a:t>
            </a:r>
            <a:endParaRPr lang="en-US" sz="1200" dirty="0"/>
          </a:p>
          <a:p>
            <a:pPr marL="342900" indent="-342900">
              <a:buSzPct val="100000"/>
              <a:buChar char="•"/>
            </a:pPr>
            <a:r>
              <a:rPr lang="en-US" sz="1200" dirty="0">
                <a:solidFill>
                  <a:srgbClr val="475569"/>
                </a:solidFill>
              </a:rPr>
              <a:t>10-section user testing survey</a:t>
            </a:r>
            <a:endParaRPr lang="en-US" sz="1200" dirty="0"/>
          </a:p>
        </p:txBody>
      </p:sp>
      <p:sp>
        <p:nvSpPr>
          <p:cNvPr id="19" name="Shape 17"/>
          <p:cNvSpPr/>
          <p:nvPr/>
        </p:nvSpPr>
        <p:spPr>
          <a:xfrm>
            <a:off x="4663440" y="2468880"/>
            <a:ext cx="3840480" cy="21945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20" name="Text 18"/>
          <p:cNvSpPr/>
          <p:nvPr/>
        </p:nvSpPr>
        <p:spPr>
          <a:xfrm>
            <a:off x="4663440" y="2560320"/>
            <a:ext cx="3840480" cy="320040"/>
          </a:xfrm>
          <a:prstGeom prst="rect">
            <a:avLst/>
          </a:prstGeom>
          <a:noFill/>
          <a:ln/>
        </p:spPr>
        <p:txBody>
          <a:bodyPr wrap="square" lIns="0" tIns="0" rIns="0" bIns="0" rtlCol="0" anchor="ctr"/>
          <a:lstStyle/>
          <a:p>
            <a:pPr algn="ctr" indent="0" marL="0">
              <a:buNone/>
            </a:pPr>
            <a:r>
              <a:rPr lang="en-US" sz="1400" b="1" dirty="0">
                <a:solidFill>
                  <a:srgbClr val="3B82F6"/>
                </a:solidFill>
                <a:latin typeface="Calibri" pitchFamily="34" charset="0"/>
                <a:ea typeface="Calibri" pitchFamily="34" charset="-122"/>
                <a:cs typeface="Calibri" pitchFamily="34" charset="-120"/>
              </a:rPr>
              <a:t>Upcoming</a:t>
            </a:r>
            <a:endParaRPr lang="en-US" sz="1400" dirty="0"/>
          </a:p>
        </p:txBody>
      </p:sp>
      <p:sp>
        <p:nvSpPr>
          <p:cNvPr id="21" name="Text 19"/>
          <p:cNvSpPr/>
          <p:nvPr/>
        </p:nvSpPr>
        <p:spPr>
          <a:xfrm>
            <a:off x="4937760" y="2926080"/>
            <a:ext cx="3291840" cy="1554480"/>
          </a:xfrm>
          <a:prstGeom prst="rect">
            <a:avLst/>
          </a:prstGeom>
          <a:noFill/>
          <a:ln/>
        </p:spPr>
        <p:txBody>
          <a:bodyPr wrap="square" rtlCol="0" anchor="t"/>
          <a:lstStyle/>
          <a:p>
            <a:pPr marL="342900" indent="-342900">
              <a:buSzPct val="100000"/>
              <a:buChar char="•"/>
            </a:pPr>
            <a:r>
              <a:rPr lang="en-US" sz="1200" dirty="0">
                <a:solidFill>
                  <a:srgbClr val="475569"/>
                </a:solidFill>
              </a:rPr>
              <a:t>Test with real Informer users</a:t>
            </a:r>
            <a:endParaRPr lang="en-US" sz="1200" dirty="0"/>
          </a:p>
          <a:p>
            <a:pPr marL="342900" indent="-342900">
              <a:buSzPct val="100000"/>
              <a:buChar char="•"/>
            </a:pPr>
            <a:r>
              <a:rPr lang="en-US" sz="1200" dirty="0">
                <a:solidFill>
                  <a:srgbClr val="475569"/>
                </a:solidFill>
              </a:rPr>
              <a:t>Analyze feedback and iterate</a:t>
            </a:r>
            <a:endParaRPr lang="en-US" sz="1200" dirty="0"/>
          </a:p>
          <a:p>
            <a:pPr marL="342900" indent="-342900">
              <a:buSzPct val="100000"/>
              <a:buChar char="•"/>
            </a:pPr>
            <a:r>
              <a:rPr lang="en-US" sz="1200" dirty="0">
                <a:solidFill>
                  <a:srgbClr val="475569"/>
                </a:solidFill>
              </a:rPr>
              <a:t>Deploy to Informer platform</a:t>
            </a:r>
            <a:endParaRPr lang="en-US" sz="1200" dirty="0"/>
          </a:p>
          <a:p>
            <a:pPr marL="342900" indent="-342900">
              <a:buSzPct val="100000"/>
              <a:buChar char="•"/>
            </a:pPr>
            <a:r>
              <a:rPr lang="en-US" sz="1200" dirty="0">
                <a:solidFill>
                  <a:srgbClr val="475569"/>
                </a:solidFill>
              </a:rPr>
              <a:t>Compare old vs. new QD results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548640"/>
          </a:xfrm>
          <a:prstGeom prst="rect">
            <a:avLst/>
          </a:prstGeom>
          <a:noFill/>
          <a:ln/>
        </p:spPr>
        <p:txBody>
          <a:bodyPr wrap="square" lIns="0" tIns="0" rIns="0" bIns="0"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Challenges, Risks &amp; Support</a:t>
            </a:r>
            <a:endParaRPr lang="en-US" sz="2800" dirty="0"/>
          </a:p>
        </p:txBody>
      </p:sp>
      <p:sp>
        <p:nvSpPr>
          <p:cNvPr id="3" name="Shape 1"/>
          <p:cNvSpPr/>
          <p:nvPr/>
        </p:nvSpPr>
        <p:spPr>
          <a:xfrm>
            <a:off x="640080" y="1051560"/>
            <a:ext cx="7863840" cy="731520"/>
          </a:xfrm>
          <a:prstGeom prst="rect">
            <a:avLst/>
          </a:prstGeom>
          <a:solidFill>
            <a:srgbClr val="F1F5F9"/>
          </a:solidFill>
          <a:ln/>
          <a:effectLst>
            <a:outerShdw sx="100000" sy="100000" kx="0" ky="0" algn="bl" rotWithShape="0" blurRad="101600" dist="25400" dir="8100000">
              <a:srgbClr val="000000">
                <a:alpha val="10000"/>
              </a:srgbClr>
            </a:outerShdw>
          </a:effectLst>
        </p:spPr>
      </p:sp>
      <p:sp>
        <p:nvSpPr>
          <p:cNvPr id="4" name="Shape 2"/>
          <p:cNvSpPr/>
          <p:nvPr/>
        </p:nvSpPr>
        <p:spPr>
          <a:xfrm>
            <a:off x="640080" y="1051560"/>
            <a:ext cx="64008" cy="731520"/>
          </a:xfrm>
          <a:prstGeom prst="rect">
            <a:avLst/>
          </a:prstGeom>
          <a:solidFill>
            <a:srgbClr val="F59E0B"/>
          </a:solidFill>
          <a:ln/>
        </p:spPr>
      </p:sp>
      <p:sp>
        <p:nvSpPr>
          <p:cNvPr id="5" name="Text 3"/>
          <p:cNvSpPr/>
          <p:nvPr/>
        </p:nvSpPr>
        <p:spPr>
          <a:xfrm>
            <a:off x="1005840" y="1051560"/>
            <a:ext cx="2194560" cy="73152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UX Design is Iterative</a:t>
            </a:r>
            <a:endParaRPr lang="en-US" sz="1300" dirty="0"/>
          </a:p>
        </p:txBody>
      </p:sp>
      <p:sp>
        <p:nvSpPr>
          <p:cNvPr id="6" name="Text 4"/>
          <p:cNvSpPr/>
          <p:nvPr/>
        </p:nvSpPr>
        <p:spPr>
          <a:xfrm>
            <a:off x="3200400" y="1051560"/>
            <a:ext cx="5029200" cy="7315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Good interfaces take many rounds of feedback. We're aiming for measurably better, not perfect.</a:t>
            </a:r>
            <a:endParaRPr lang="en-US" sz="1200" dirty="0"/>
          </a:p>
        </p:txBody>
      </p:sp>
      <p:sp>
        <p:nvSpPr>
          <p:cNvPr id="7" name="Shape 5"/>
          <p:cNvSpPr/>
          <p:nvPr/>
        </p:nvSpPr>
        <p:spPr>
          <a:xfrm>
            <a:off x="640080" y="1965960"/>
            <a:ext cx="7863840" cy="731520"/>
          </a:xfrm>
          <a:prstGeom prst="rect">
            <a:avLst/>
          </a:prstGeom>
          <a:solidFill>
            <a:srgbClr val="F1F5F9"/>
          </a:solidFill>
          <a:ln/>
          <a:effectLst>
            <a:outerShdw sx="100000" sy="100000" kx="0" ky="0" algn="bl" rotWithShape="0" blurRad="101600" dist="25400" dir="8100000">
              <a:srgbClr val="000000">
                <a:alpha val="10000"/>
              </a:srgbClr>
            </a:outerShdw>
          </a:effectLst>
        </p:spPr>
      </p:sp>
      <p:sp>
        <p:nvSpPr>
          <p:cNvPr id="8" name="Shape 6"/>
          <p:cNvSpPr/>
          <p:nvPr/>
        </p:nvSpPr>
        <p:spPr>
          <a:xfrm>
            <a:off x="640080" y="1965960"/>
            <a:ext cx="64008" cy="731520"/>
          </a:xfrm>
          <a:prstGeom prst="rect">
            <a:avLst/>
          </a:prstGeom>
          <a:solidFill>
            <a:srgbClr val="EF4444"/>
          </a:solidFill>
          <a:ln/>
        </p:spPr>
      </p:sp>
      <p:sp>
        <p:nvSpPr>
          <p:cNvPr id="9" name="Text 7"/>
          <p:cNvSpPr/>
          <p:nvPr/>
        </p:nvSpPr>
        <p:spPr>
          <a:xfrm>
            <a:off x="1005840" y="1965960"/>
            <a:ext cx="2194560" cy="73152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Platform Integration</a:t>
            </a:r>
            <a:endParaRPr lang="en-US" sz="1300" dirty="0"/>
          </a:p>
        </p:txBody>
      </p:sp>
      <p:sp>
        <p:nvSpPr>
          <p:cNvPr id="10" name="Text 8"/>
          <p:cNvSpPr/>
          <p:nvPr/>
        </p:nvSpPr>
        <p:spPr>
          <a:xfrm>
            <a:off x="3200400" y="1965960"/>
            <a:ext cx="5029200" cy="7315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Deploying as a Magic Report App requires a feature flag on the Duke Informer instance.</a:t>
            </a:r>
            <a:endParaRPr lang="en-US" sz="1200" dirty="0"/>
          </a:p>
        </p:txBody>
      </p:sp>
      <p:sp>
        <p:nvSpPr>
          <p:cNvPr id="11" name="Shape 9"/>
          <p:cNvSpPr/>
          <p:nvPr/>
        </p:nvSpPr>
        <p:spPr>
          <a:xfrm>
            <a:off x="640080" y="2880360"/>
            <a:ext cx="7863840" cy="731520"/>
          </a:xfrm>
          <a:prstGeom prst="rect">
            <a:avLst/>
          </a:prstGeom>
          <a:solidFill>
            <a:srgbClr val="F1F5F9"/>
          </a:solidFill>
          <a:ln/>
          <a:effectLst>
            <a:outerShdw sx="100000" sy="100000" kx="0" ky="0" algn="bl" rotWithShape="0" blurRad="101600" dist="25400" dir="8100000">
              <a:srgbClr val="000000">
                <a:alpha val="10000"/>
              </a:srgbClr>
            </a:outerShdw>
          </a:effectLst>
        </p:spPr>
      </p:sp>
      <p:sp>
        <p:nvSpPr>
          <p:cNvPr id="12" name="Shape 10"/>
          <p:cNvSpPr/>
          <p:nvPr/>
        </p:nvSpPr>
        <p:spPr>
          <a:xfrm>
            <a:off x="640080" y="2880360"/>
            <a:ext cx="64008" cy="731520"/>
          </a:xfrm>
          <a:prstGeom prst="rect">
            <a:avLst/>
          </a:prstGeom>
          <a:solidFill>
            <a:srgbClr val="F59E0B"/>
          </a:solidFill>
          <a:ln/>
        </p:spPr>
      </p:sp>
      <p:sp>
        <p:nvSpPr>
          <p:cNvPr id="13" name="Text 11"/>
          <p:cNvSpPr/>
          <p:nvPr/>
        </p:nvSpPr>
        <p:spPr>
          <a:xfrm>
            <a:off x="1005840" y="2880360"/>
            <a:ext cx="2194560" cy="73152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Limited Testing Window</a:t>
            </a:r>
            <a:endParaRPr lang="en-US" sz="1300" dirty="0"/>
          </a:p>
        </p:txBody>
      </p:sp>
      <p:sp>
        <p:nvSpPr>
          <p:cNvPr id="14" name="Text 12"/>
          <p:cNvSpPr/>
          <p:nvPr/>
        </p:nvSpPr>
        <p:spPr>
          <a:xfrm>
            <a:off x="3200400" y="2880360"/>
            <a:ext cx="5029200" cy="7315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Need to recruit testers, collect feedback, and iterate — all in the remaining weeks.</a:t>
            </a:r>
            <a:endParaRPr lang="en-US" sz="1200" dirty="0"/>
          </a:p>
        </p:txBody>
      </p:sp>
      <p:sp>
        <p:nvSpPr>
          <p:cNvPr id="15" name="Shape 13"/>
          <p:cNvSpPr/>
          <p:nvPr/>
        </p:nvSpPr>
        <p:spPr>
          <a:xfrm>
            <a:off x="640080" y="3840480"/>
            <a:ext cx="7863840" cy="1005840"/>
          </a:xfrm>
          <a:prstGeom prst="rect">
            <a:avLst/>
          </a:prstGeom>
          <a:solidFill>
            <a:srgbClr val="1B2A4A"/>
          </a:solidFill>
          <a:ln/>
        </p:spPr>
      </p:sp>
      <p:sp>
        <p:nvSpPr>
          <p:cNvPr id="16" name="Text 14"/>
          <p:cNvSpPr/>
          <p:nvPr/>
        </p:nvSpPr>
        <p:spPr>
          <a:xfrm>
            <a:off x="914400" y="3886200"/>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Resources &amp; Support Needed</a:t>
            </a:r>
            <a:endParaRPr lang="en-US" sz="1400" dirty="0"/>
          </a:p>
        </p:txBody>
      </p:sp>
      <p:sp>
        <p:nvSpPr>
          <p:cNvPr id="17" name="Text 15"/>
          <p:cNvSpPr/>
          <p:nvPr/>
        </p:nvSpPr>
        <p:spPr>
          <a:xfrm>
            <a:off x="914400" y="4206240"/>
            <a:ext cx="7315200" cy="594360"/>
          </a:xfrm>
          <a:prstGeom prst="rect">
            <a:avLst/>
          </a:prstGeom>
          <a:noFill/>
          <a:ln/>
        </p:spPr>
        <p:txBody>
          <a:bodyPr wrap="square" rtlCol="0" anchor="t"/>
          <a:lstStyle/>
          <a:p>
            <a:pPr marL="342900" indent="-342900">
              <a:buSzPct val="100000"/>
              <a:buChar char="•"/>
            </a:pPr>
            <a:r>
              <a:rPr lang="en-US" sz="1200" dirty="0">
                <a:solidFill>
                  <a:srgbClr val="CBD5E1"/>
                </a:solidFill>
              </a:rPr>
              <a:t>Access to real Informer users for testing sessions</a:t>
            </a:r>
            <a:endParaRPr lang="en-US" sz="1200" dirty="0"/>
          </a:p>
          <a:p>
            <a:pPr marL="342900" indent="-342900">
              <a:buSzPct val="100000"/>
              <a:buChar char="•"/>
            </a:pPr>
            <a:r>
              <a:rPr lang="en-US" sz="1200" dirty="0">
                <a:solidFill>
                  <a:srgbClr val="CBD5E1"/>
                </a:solidFill>
              </a:rPr>
              <a:t>Magic Reports feature enabled on Duke Informer instance</a:t>
            </a:r>
            <a:endParaRPr lang="en-US" sz="1200" dirty="0"/>
          </a:p>
          <a:p>
            <a:pPr marL="342900" indent="-342900">
              <a:buSzPct val="100000"/>
              <a:buChar char="•"/>
            </a:pPr>
            <a:r>
              <a:rPr lang="en-US" sz="1200" dirty="0">
                <a:solidFill>
                  <a:srgbClr val="CBD5E1"/>
                </a:solidFill>
              </a:rPr>
              <a:t>Continued collaboration with Entrinsik engineering team</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B82F6"/>
          </a:solidFill>
          <a:ln/>
        </p:spPr>
      </p:sp>
      <p:sp>
        <p:nvSpPr>
          <p:cNvPr id="3" name="Text 1"/>
          <p:cNvSpPr/>
          <p:nvPr/>
        </p:nvSpPr>
        <p:spPr>
          <a:xfrm>
            <a:off x="731520" y="548640"/>
            <a:ext cx="7315200" cy="457200"/>
          </a:xfrm>
          <a:prstGeom prst="rect">
            <a:avLst/>
          </a:prstGeom>
          <a:noFill/>
          <a:ln/>
        </p:spPr>
        <p:txBody>
          <a:bodyPr wrap="square" lIns="0" tIns="0" rIns="0" bIns="0" rtlCol="0" anchor="ctr"/>
          <a:lstStyle/>
          <a:p>
            <a:pPr indent="0" marL="0">
              <a:buNone/>
            </a:pPr>
            <a:r>
              <a:rPr lang="en-US" sz="1400" b="1" spc="400" kern="0" dirty="0">
                <a:solidFill>
                  <a:srgbClr val="0EA5E9"/>
                </a:solidFill>
                <a:latin typeface="Calibri" pitchFamily="34" charset="0"/>
                <a:ea typeface="Calibri" pitchFamily="34" charset="-122"/>
                <a:cs typeface="Calibri" pitchFamily="34" charset="-120"/>
              </a:rPr>
              <a:t>WHAT WE'VE BUILT</a:t>
            </a:r>
            <a:endParaRPr lang="en-US" sz="1400" dirty="0"/>
          </a:p>
        </p:txBody>
      </p:sp>
      <p:sp>
        <p:nvSpPr>
          <p:cNvPr id="4" name="Text 2"/>
          <p:cNvSpPr/>
          <p:nvPr/>
        </p:nvSpPr>
        <p:spPr>
          <a:xfrm>
            <a:off x="731520" y="1097280"/>
            <a:ext cx="7315200" cy="2011680"/>
          </a:xfrm>
          <a:prstGeom prst="rect">
            <a:avLst/>
          </a:prstGeom>
          <a:noFill/>
          <a:ln/>
        </p:spPr>
        <p:txBody>
          <a:bodyPr wrap="square" rtlCol="0" anchor="t"/>
          <a:lstStyle/>
          <a:p>
            <a:pPr marL="342900" indent="-342900">
              <a:spcAft>
                <a:spcPts val="800"/>
              </a:spcAft>
              <a:buSzPct val="100000"/>
              <a:buChar char="•"/>
            </a:pPr>
            <a:r>
              <a:rPr lang="en-US" sz="1600" dirty="0">
                <a:solidFill>
                  <a:srgbClr val="FFFFFF"/>
                </a:solidFill>
              </a:rPr>
              <a:t>A modern, ribbon-based query designer</a:t>
            </a:r>
            <a:endParaRPr lang="en-US" sz="1600" dirty="0"/>
          </a:p>
          <a:p>
            <a:pPr marL="342900" indent="-342900">
              <a:spcAft>
                <a:spcPts val="800"/>
              </a:spcAft>
              <a:buSzPct val="100000"/>
              <a:buChar char="•"/>
            </a:pPr>
            <a:r>
              <a:rPr lang="en-US" sz="1600" dirty="0">
                <a:solidFill>
                  <a:srgbClr val="FFFFFF"/>
                </a:solidFill>
              </a:rPr>
              <a:t>with AI-powered natural language features,</a:t>
            </a:r>
            <a:endParaRPr lang="en-US" sz="1600" dirty="0"/>
          </a:p>
          <a:p>
            <a:pPr marL="342900" indent="-342900">
              <a:spcAft>
                <a:spcPts val="800"/>
              </a:spcAft>
              <a:buSzPct val="100000"/>
              <a:buChar char="•"/>
            </a:pPr>
            <a:r>
              <a:rPr lang="en-US" sz="1600" dirty="0">
                <a:solidFill>
                  <a:srgbClr val="FFFFFF"/>
                </a:solidFill>
              </a:rPr>
              <a:t>connected to real enterprise datasources,</a:t>
            </a:r>
            <a:endParaRPr lang="en-US" sz="1600" dirty="0"/>
          </a:p>
          <a:p>
            <a:pPr marL="342900" indent="-342900">
              <a:spcAft>
                <a:spcPts val="800"/>
              </a:spcAft>
              <a:buSzPct val="100000"/>
              <a:buChar char="•"/>
            </a:pPr>
            <a:r>
              <a:rPr lang="en-US" sz="1600" dirty="0">
                <a:solidFill>
                  <a:srgbClr val="FFFFFF"/>
                </a:solidFill>
              </a:rPr>
              <a:t>with a structured testing framework,</a:t>
            </a:r>
            <a:endParaRPr lang="en-US" sz="1600" dirty="0"/>
          </a:p>
          <a:p>
            <a:pPr marL="342900" indent="-342900">
              <a:spcAft>
                <a:spcPts val="800"/>
              </a:spcAft>
              <a:buSzPct val="100000"/>
              <a:buChar char="•"/>
            </a:pPr>
            <a:r>
              <a:rPr lang="en-US" sz="1600" dirty="0">
                <a:solidFill>
                  <a:srgbClr val="FFFFFF"/>
                </a:solidFill>
              </a:rPr>
              <a:t>ready for user evaluation.</a:t>
            </a:r>
            <a:endParaRPr lang="en-US" sz="1600" dirty="0"/>
          </a:p>
        </p:txBody>
      </p:sp>
      <p:sp>
        <p:nvSpPr>
          <p:cNvPr id="5" name="Shape 3"/>
          <p:cNvSpPr/>
          <p:nvPr/>
        </p:nvSpPr>
        <p:spPr>
          <a:xfrm>
            <a:off x="731520" y="3383280"/>
            <a:ext cx="7680960" cy="7315"/>
          </a:xfrm>
          <a:prstGeom prst="rect">
            <a:avLst/>
          </a:prstGeom>
          <a:solidFill>
            <a:srgbClr val="3B82F6">
              <a:alpha val="60000"/>
            </a:srgbClr>
          </a:solidFill>
          <a:ln/>
        </p:spPr>
      </p:sp>
      <p:sp>
        <p:nvSpPr>
          <p:cNvPr id="6" name="Text 4"/>
          <p:cNvSpPr/>
          <p:nvPr/>
        </p:nvSpPr>
        <p:spPr>
          <a:xfrm>
            <a:off x="731520" y="365760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Questions?</a:t>
            </a:r>
            <a:endParaRPr lang="en-US" sz="3600" dirty="0"/>
          </a:p>
        </p:txBody>
      </p:sp>
      <p:sp>
        <p:nvSpPr>
          <p:cNvPr id="7" name="Text 5"/>
          <p:cNvSpPr/>
          <p:nvPr/>
        </p:nvSpPr>
        <p:spPr>
          <a:xfrm>
            <a:off x="731520" y="4480560"/>
            <a:ext cx="731520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Entrinsik  |  Duke AIPI Capstone  |  Spring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Rebuilding the Query Designer</dc:title>
  <dc:subject>PptxGenJS Presentation</dc:subject>
  <dc:creator>Duke AIPI Capstone Team</dc:creator>
  <cp:lastModifiedBy>Duke AIPI Capstone Team</cp:lastModifiedBy>
  <cp:revision>1</cp:revision>
  <dcterms:created xsi:type="dcterms:W3CDTF">2026-03-26T02:50:37Z</dcterms:created>
  <dcterms:modified xsi:type="dcterms:W3CDTF">2026-03-26T02:50:37Z</dcterms:modified>
</cp:coreProperties>
</file>